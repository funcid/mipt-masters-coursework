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040000" cx="9000000"/>
  <p:notesSz cx="6858000" cy="9144000"/>
  <p:embeddedFontLst>
    <p:embeddedFont>
      <p:font typeface="Libre Franklin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0">
          <p15:clr>
            <a:srgbClr val="747775"/>
          </p15:clr>
        </p15:guide>
        <p15:guide id="2" pos="5380">
          <p15:clr>
            <a:srgbClr val="747775"/>
          </p15:clr>
        </p15:guide>
        <p15:guide id="3" orient="horz" pos="718">
          <p15:clr>
            <a:srgbClr val="747775"/>
          </p15:clr>
        </p15:guide>
        <p15:guide id="4" orient="horz" pos="283">
          <p15:clr>
            <a:srgbClr val="747775"/>
          </p15:clr>
        </p15:guide>
        <p15:guide id="5" orient="horz" pos="964">
          <p15:clr>
            <a:srgbClr val="747775"/>
          </p15:clr>
        </p15:guide>
        <p15:guide id="6" pos="1587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jUsUQcPWa1U32cBEQkARa9Jli2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176FCE-FE8F-4361-AE64-E80BB88AB412}">
  <a:tblStyle styleId="{B8176FCE-FE8F-4361-AE64-E80BB88AB4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0"/>
        <p:guide pos="5380"/>
        <p:guide pos="718" orient="horz"/>
        <p:guide pos="283" orient="horz"/>
        <p:guide pos="964" orient="horz"/>
        <p:guide pos="158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ArialBlack-regular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ibreFranklin-bold.fntdata"/><Relationship Id="rId16" Type="http://schemas.openxmlformats.org/officeDocument/2006/relationships/font" Target="fonts/LibreFranklin-regular.fntdata"/><Relationship Id="rId19" Type="http://schemas.openxmlformats.org/officeDocument/2006/relationships/font" Target="fonts/LibreFranklin-boldItalic.fntdata"/><Relationship Id="rId18" Type="http://schemas.openxmlformats.org/officeDocument/2006/relationships/font" Target="fonts/LibreFrankl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fadd8a07_0_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7bfadd8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bfadd8a07_0_6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7bfadd8a0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3e6fffcff_0_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3e6fffc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4932e7afe_0_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74932e7a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body">
  <p:cSld name="3_Title and 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320992" y="205833"/>
            <a:ext cx="84000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 Black"/>
              <a:buNone/>
              <a:defRPr b="1" i="0" sz="3100" u="none" cap="none" strike="noStrike">
                <a:solidFill>
                  <a:srgbClr val="0072B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38765" y="1435000"/>
            <a:ext cx="39255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339034" y="4569381"/>
            <a:ext cx="540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75" lIns="33375" spcFirstLastPara="1" rIns="33375" wrap="square" tIns="3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7">
          <p15:clr>
            <a:srgbClr val="FBAE40"/>
          </p15:clr>
        </p15:guide>
        <p15:guide id="2" pos="28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qiQvcPA26f4c0_dkaZIgHsgq9LiEwsNY/edit?usp=sharing&amp;ouid=117018715851685870660&amp;rtpof=true&amp;sd=true" TargetMode="External"/><Relationship Id="rId5" Type="http://schemas.openxmlformats.org/officeDocument/2006/relationships/hyperlink" Target="https://github.com/funcid/mipt-funcfund" TargetMode="External"/><Relationship Id="rId6" Type="http://schemas.openxmlformats.org/officeDocument/2006/relationships/hyperlink" Target="https://funcfund.ru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315775" y="533125"/>
            <a:ext cx="8369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№</a:t>
            </a: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FuncFund - </a:t>
            </a:r>
            <a:endParaRPr b="1" sz="5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</a:pP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сервис накоплени</a:t>
            </a:r>
            <a:endParaRPr b="1" sz="5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315774" y="3373825"/>
            <a:ext cx="8541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«Разработка IT-продукта»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bfadd8a07_0_0"/>
          <p:cNvSpPr/>
          <p:nvPr/>
        </p:nvSpPr>
        <p:spPr>
          <a:xfrm>
            <a:off x="459853" y="1152350"/>
            <a:ext cx="2513700" cy="23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7bfadd8a07_0_0"/>
          <p:cNvSpPr/>
          <p:nvPr/>
        </p:nvSpPr>
        <p:spPr>
          <a:xfrm>
            <a:off x="3313640" y="1152350"/>
            <a:ext cx="2513700" cy="23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7bfadd8a07_0_0"/>
          <p:cNvSpPr txBox="1"/>
          <p:nvPr/>
        </p:nvSpPr>
        <p:spPr>
          <a:xfrm>
            <a:off x="383650" y="3638025"/>
            <a:ext cx="2513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Царюк А. В.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</a:t>
            </a:r>
            <a:r>
              <a:rPr b="1" i="0" lang="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идер проекта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бизнес-модели, финансовой модели, БФТ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 маркетинговой стратегии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g37bfadd8a07_0_0"/>
          <p:cNvSpPr txBox="1"/>
          <p:nvPr/>
        </p:nvSpPr>
        <p:spPr>
          <a:xfrm>
            <a:off x="368558" y="284682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проекта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37bfadd8a07_0_0"/>
          <p:cNvSpPr/>
          <p:nvPr/>
        </p:nvSpPr>
        <p:spPr>
          <a:xfrm>
            <a:off x="6167440" y="1152350"/>
            <a:ext cx="2513700" cy="23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7bfadd8a07_0_0"/>
          <p:cNvSpPr txBox="1"/>
          <p:nvPr/>
        </p:nvSpPr>
        <p:spPr>
          <a:xfrm>
            <a:off x="3237449" y="3615200"/>
            <a:ext cx="2513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Артём Ц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В.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Разработчик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прототипа, архитектуры, backend </a:t>
            </a:r>
            <a:b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 frontend 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7bfadd8a07_0_0"/>
          <p:cNvSpPr txBox="1"/>
          <p:nvPr/>
        </p:nvSpPr>
        <p:spPr>
          <a:xfrm>
            <a:off x="6091249" y="3615200"/>
            <a:ext cx="2513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Владимирович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А. Ц.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</a:t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Продуктовый анализ, сбор и обработка метрик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g37bfadd8a07_0_0"/>
          <p:cNvPicPr preferRelativeResize="0"/>
          <p:nvPr/>
        </p:nvPicPr>
        <p:blipFill rotWithShape="1">
          <a:blip r:embed="rId3">
            <a:alphaModFix/>
          </a:blip>
          <a:srcRect b="5704" l="0" r="0" t="0"/>
          <a:stretch/>
        </p:blipFill>
        <p:spPr>
          <a:xfrm>
            <a:off x="459850" y="1152350"/>
            <a:ext cx="2513701" cy="23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g37bfadd8a07_0_0"/>
          <p:cNvPicPr preferRelativeResize="0"/>
          <p:nvPr/>
        </p:nvPicPr>
        <p:blipFill rotWithShape="1">
          <a:blip r:embed="rId4">
            <a:alphaModFix/>
          </a:blip>
          <a:srcRect b="0" l="0" r="0" t="8650"/>
          <a:stretch/>
        </p:blipFill>
        <p:spPr>
          <a:xfrm>
            <a:off x="3313650" y="1139825"/>
            <a:ext cx="2513701" cy="2318925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g37bfadd8a07_0_0"/>
          <p:cNvPicPr preferRelativeResize="0"/>
          <p:nvPr/>
        </p:nvPicPr>
        <p:blipFill rotWithShape="1">
          <a:blip r:embed="rId5">
            <a:alphaModFix/>
          </a:blip>
          <a:srcRect b="8240" l="0" r="0" t="0"/>
          <a:stretch/>
        </p:blipFill>
        <p:spPr>
          <a:xfrm>
            <a:off x="6167450" y="1152350"/>
            <a:ext cx="2513701" cy="23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fadd8a07_0_63"/>
          <p:cNvSpPr txBox="1"/>
          <p:nvPr/>
        </p:nvSpPr>
        <p:spPr>
          <a:xfrm>
            <a:off x="321325" y="268500"/>
            <a:ext cx="82188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g37bfadd8a07_0_63"/>
          <p:cNvSpPr txBox="1"/>
          <p:nvPr/>
        </p:nvSpPr>
        <p:spPr>
          <a:xfrm>
            <a:off x="416100" y="1038750"/>
            <a:ext cx="8167800" cy="23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Ключевая проблема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Частные инвесторы и люди, ведущие личные финансы, тратят слишком много времени на сбор и сверку данных о стоимости своих активов, и в итоге принимают финансовые решения на основе устаревшей или неполной информации.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Декомпозиция проблемы:</a:t>
            </a:r>
            <a:endParaRPr sz="12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Нет единой картины: большинство решений показывает данные по отдельным инструментам, из-за чего сложно понять реальную стоимость сбережений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Риск ошибочных решений: без актуальных данных пользователи действуют интуитивно, что приводит к упущенной выгоде или лишним рискам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g37bfadd8a07_0_63"/>
          <p:cNvSpPr/>
          <p:nvPr/>
        </p:nvSpPr>
        <p:spPr>
          <a:xfrm>
            <a:off x="416100" y="3447850"/>
            <a:ext cx="8167800" cy="130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bfadd8a07_0_63"/>
          <p:cNvSpPr txBox="1"/>
          <p:nvPr/>
        </p:nvSpPr>
        <p:spPr>
          <a:xfrm>
            <a:off x="416100" y="3448050"/>
            <a:ext cx="81678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Решения сегодня: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Финансовые приложения (Тинькофф, ВТБ, Мосбиржа) -</a:t>
            </a:r>
            <a:r>
              <a:rPr lang="ru" sz="12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замкнуты на своей экосистеме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Snowball-Income -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мало типов активов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 -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ручная настройка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e6fffcff_0_6"/>
          <p:cNvSpPr txBox="1"/>
          <p:nvPr/>
        </p:nvSpPr>
        <p:spPr>
          <a:xfrm>
            <a:off x="321325" y="268500"/>
            <a:ext cx="82188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ru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Конкуренты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9" name="Google Shape;89;g3c3e6fffcff_0_6"/>
          <p:cNvGraphicFramePr/>
          <p:nvPr/>
        </p:nvGraphicFramePr>
        <p:xfrm>
          <a:off x="402213" y="127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{B8176FCE-FE8F-4361-AE64-E80BB88AB412}</a:tableStyleId>
              </a:tblPr>
              <a:tblGrid>
                <a:gridCol w="1978000"/>
                <a:gridCol w="1972400"/>
                <a:gridCol w="1824100"/>
                <a:gridCol w="2394875"/>
              </a:tblGrid>
              <a:tr h="602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Решение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Агрегация активов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Контроль и актуальность данных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Ограничения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76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Брокерские приложения</a:t>
                      </a:r>
                      <a:r>
                        <a:rPr lang="ru" sz="1100"/>
                        <a:t> (Тинькофф, ВТБ, Мосбиржа)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❌ Только внутри своей экосистемы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✅ Автоматическое обновление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Нет сквозного портфеля, невозможно учитывать внешние активы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7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Snowball-Income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⚠️ Частичная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⚠️ Ограниченный набор показателей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Поддерживается малое число типов активов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7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Excel / Google Sheets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✅ Любые активы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❌ Ручное обновление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Высокие трудозатраты и риск ошибок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7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FuncFund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✅ Все типы активов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✅ Автоматическое обновление и контроль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—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74932e7af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74932e7afe_0_3"/>
          <p:cNvSpPr txBox="1"/>
          <p:nvPr/>
        </p:nvSpPr>
        <p:spPr>
          <a:xfrm>
            <a:off x="321325" y="268500"/>
            <a:ext cx="82188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Острота проблемы: теоретический анализ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" name="Google Shape;96;g374932e7af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0421" y="2866600"/>
            <a:ext cx="2397204" cy="4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74932e7afe_0_3"/>
          <p:cNvSpPr txBox="1"/>
          <p:nvPr/>
        </p:nvSpPr>
        <p:spPr>
          <a:xfrm>
            <a:off x="335525" y="1328576"/>
            <a:ext cx="4367700" cy="3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Острота проблемы: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1/3 пользователей используют ≥3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финансовых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приложений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данные фрагментированы [5]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Пользователи собирают данные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вручную в Excel/Sheets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(популярный способ) — ошибки и устаревание [6]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≈6,1 млн ИИС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₽83 млрд внесений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2024 — больше типов счетов и операций, которые нужно учитывать [2]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35,1 млн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частных инвесторов имеют брокерские счета в РФ (2024)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74932e7afe_0_3"/>
          <p:cNvSpPr txBox="1"/>
          <p:nvPr/>
        </p:nvSpPr>
        <p:spPr>
          <a:xfrm>
            <a:off x="5871650" y="3282725"/>
            <a:ext cx="30402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2.4% * 630 000 ₽ / 12 =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1260 ₽ / месяц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630 000 ₽ - средний портфель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~2.4% -  потеря доходности / год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9" name="Google Shape;99;g374932e7afe_0_3"/>
          <p:cNvGraphicFramePr/>
          <p:nvPr/>
        </p:nvGraphicFramePr>
        <p:xfrm>
          <a:off x="5960425" y="153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{B8176FCE-FE8F-4361-AE64-E80BB88AB412}</a:tableStyleId>
              </a:tblPr>
              <a:tblGrid>
                <a:gridCol w="2691325"/>
              </a:tblGrid>
              <a:tr h="112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1260</a:t>
                      </a:r>
                      <a:b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рублей / месяц </a:t>
                      </a:r>
                      <a: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теряют инвесторы из-за неэффективного управления финансами</a:t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19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332550" y="271600"/>
            <a:ext cx="85200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408750" y="986400"/>
            <a:ext cx="81321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FuncFund 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это аналитический сервис для отслеживания стоимости активов и ключевых экономических индикаторов, который: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Объединяет все данные в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едином дашборде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индексы, металлы, вклады, валюты, ключевую ставку и другие показатели через ETL процессы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 обновляет стоимость активов в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Real-Time 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Redis Pub/Sub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Предоставляет AI-инструменты для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оценки портфеля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УТП: 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Агрегация и контроль всех активов в одном интерфейсе, снижающие ручной учёт, количество ошибок и временные затраты пользователя.</a:t>
            </a:r>
            <a:endParaRPr b="1" i="1" sz="1200" u="sng">
              <a:solidFill>
                <a:schemeClr val="dk1"/>
              </a:solidFill>
              <a:highlight>
                <a:srgbClr val="FF00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Технологии в основе: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API-интеграции с биржевыми и финансовыми источниками данных (индексы, металлы, ключевая ставка)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Автоматизированные обновления и обработка данных в реальном времени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Модули аналитики и нормализации данных для объединения разных типов активов в единую модель портфеля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292358" y="3683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Артефакты проекта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279600" y="1024949"/>
            <a:ext cx="8167800" cy="30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b="0" i="0" lang="ru" sz="18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Паспорт проекта</a:t>
            </a:r>
            <a:endParaRPr sz="1800" u="sng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Репозиторий проекта</a:t>
            </a:r>
            <a:endParaRPr sz="1800" u="sng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Веб-сайт</a:t>
            </a:r>
            <a:endParaRPr b="0" i="0" sz="1800" u="sng" cap="none" strike="noStrik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292358" y="3683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03393" y="948744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Московская биржа. Статистика частных инвесторов и динамика брокерских счетов.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Банк России. Индивидуальные инвестиционные счета: статистика и аналитика. — М.: ЦБ РФ,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OECD/INFE. International Survey of Adult Financial Literacy. — Paris: OECD Publishing, 2023.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World Bank. Global Findex Database: Financial Inclusion Overview. — Washington, D.C.: World Bank Group, 2023.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S&amp;P Global Market Intelligence. Mobile Finance App Usage Report (Kagan Research). — 2023.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Microsoft / Smartsheet. Personal Budgeting Templates and Household Finance Practices. — 2023.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 b="36008" l="0" r="47182" t="0"/>
          <a:stretch/>
        </p:blipFill>
        <p:spPr>
          <a:xfrm>
            <a:off x="4816900" y="266775"/>
            <a:ext cx="4183099" cy="47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315779" y="380733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