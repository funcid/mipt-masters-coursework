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040000" cx="9000000"/>
  <p:notesSz cx="6858000" cy="9144000"/>
  <p:embeddedFontLst>
    <p:embeddedFont>
      <p:font typeface="Libre Franklin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Quattrocento Sans"/>
      <p:regular r:id="rId33"/>
      <p:bold r:id="rId34"/>
      <p:italic r:id="rId35"/>
      <p:boldItalic r:id="rId36"/>
    </p:embeddedFont>
    <p:embeddedFont>
      <p:font typeface="Arial Black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90">
          <p15:clr>
            <a:srgbClr val="747775"/>
          </p15:clr>
        </p15:guide>
        <p15:guide id="2" pos="5380">
          <p15:clr>
            <a:srgbClr val="747775"/>
          </p15:clr>
        </p15:guide>
        <p15:guide id="3" orient="horz" pos="718">
          <p15:clr>
            <a:srgbClr val="747775"/>
          </p15:clr>
        </p15:guide>
        <p15:guide id="4" orient="horz" pos="283">
          <p15:clr>
            <a:srgbClr val="747775"/>
          </p15:clr>
        </p15:guide>
        <p15:guide id="5" orient="horz" pos="964">
          <p15:clr>
            <a:srgbClr val="747775"/>
          </p15:clr>
        </p15:guide>
        <p15:guide id="6" pos="1587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inGarATWXSyxUUMhrrpAYUjEEq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7CB93B-3200-4EA4-926C-FBB3100A5CB0}">
  <a:tblStyle styleId="{147CB93B-3200-4EA4-926C-FBB3100A5C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16A1FA7-1C89-4CA4-B67B-C98F6BAC3C0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0"/>
        <p:guide pos="5380"/>
        <p:guide pos="718" orient="horz"/>
        <p:guide pos="283" orient="horz"/>
        <p:guide pos="964" orient="horz"/>
        <p:guide pos="158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ibreFranklin-bold.fntdata"/><Relationship Id="rId25" Type="http://schemas.openxmlformats.org/officeDocument/2006/relationships/font" Target="fonts/LibreFranklin-regular.fntdata"/><Relationship Id="rId28" Type="http://schemas.openxmlformats.org/officeDocument/2006/relationships/font" Target="fonts/LibreFranklin-boldItalic.fntdata"/><Relationship Id="rId27" Type="http://schemas.openxmlformats.org/officeDocument/2006/relationships/font" Target="fonts/LibreFranklin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5.xml"/><Relationship Id="rId33" Type="http://schemas.openxmlformats.org/officeDocument/2006/relationships/font" Target="fonts/QuattrocentoSans-regular.fntdata"/><Relationship Id="rId10" Type="http://schemas.openxmlformats.org/officeDocument/2006/relationships/slide" Target="slides/slide4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35" Type="http://schemas.openxmlformats.org/officeDocument/2006/relationships/font" Target="fonts/QuattrocentoSans-italic.fntdata"/><Relationship Id="rId12" Type="http://schemas.openxmlformats.org/officeDocument/2006/relationships/slide" Target="slides/slide6.xml"/><Relationship Id="rId34" Type="http://schemas.openxmlformats.org/officeDocument/2006/relationships/font" Target="fonts/QuattrocentoSans-bold.fntdata"/><Relationship Id="rId15" Type="http://schemas.openxmlformats.org/officeDocument/2006/relationships/slide" Target="slides/slide9.xml"/><Relationship Id="rId37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36" Type="http://schemas.openxmlformats.org/officeDocument/2006/relationships/font" Target="fonts/Quattrocento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bfadd8a07_0_0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7bfadd8a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bfadd8a07_0_63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7bfadd8a0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4932e7afe_0_3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4932e7af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0ea8cbde0_0_17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e0ea8cbde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0ea8cbde0_0_237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e0ea8cbde0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0ea8cbde0_0_300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e0ea8cbde0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0ea8cbde0_0_357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e0ea8cbde0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ea8cbde0_0_41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e0ea8cbde0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0ea8cbde0_0_533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e0ea8cbde0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0ea8cbde0_0_593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e0ea8cbde0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0ea8cbde0_0_652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e0ea8cbde0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0ea8cbde0_0_719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e0ea8cbde0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0ea8cbde0_0_77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e0ea8cbde0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body">
  <p:cSld name="3_Title and 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320992" y="205833"/>
            <a:ext cx="84000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 Black"/>
              <a:buNone/>
              <a:defRPr b="1" i="0" sz="3100" u="none" cap="none" strike="noStrike">
                <a:solidFill>
                  <a:srgbClr val="0072B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" type="body"/>
          </p:nvPr>
        </p:nvSpPr>
        <p:spPr>
          <a:xfrm>
            <a:off x="338765" y="1435000"/>
            <a:ext cx="3925500" cy="30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375" lIns="33375" spcFirstLastPara="1" rIns="33375" wrap="square" tIns="333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339034" y="4569381"/>
            <a:ext cx="5400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375" lIns="33375" spcFirstLastPara="1" rIns="33375" wrap="square" tIns="3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C5EB"/>
              </a:buClr>
              <a:buSzPts val="1000"/>
              <a:buFont typeface="Quattrocento Sans"/>
              <a:buNone/>
              <a:defRPr b="1" i="0" sz="1000" u="none" cap="none" strike="noStrike">
                <a:solidFill>
                  <a:srgbClr val="92C5E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7">
          <p15:clr>
            <a:srgbClr val="FBAE40"/>
          </p15:clr>
        </p15:guide>
        <p15:guide id="2" pos="283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hyperlink" Target="https://docs.google.com/spreadsheets/d/1qiQvcPA26f4c0_dkaZIgHsgq9LiEwsNY/edit?gid=775493996#gid=775493996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qiQvcPA26f4c0_dkaZIgHsgq9LiEwsNY/edit?gid=775493996#gid=775493996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qiQvcPA26f4c0_dkaZIgHsgq9LiEwsNY/edit?gid=1943597898#gid=1943597898" TargetMode="External"/><Relationship Id="rId5" Type="http://schemas.openxmlformats.org/officeDocument/2006/relationships/hyperlink" Target="https://docs.google.com/spreadsheets/d/1qiQvcPA26f4c0_dkaZIgHsgq9LiEwsNY/edit?gid=1943597898#gid=1943597898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qiQvcPA26f4c0_dkaZIgHsgq9LiEwsNY/edit?gid=612658439#gid=612658439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spreadsheets/d/1qiQvcPA26f4c0_dkaZIgHsgq9LiEwsNY/edit?gid=1761790081#gid=1761790081" TargetMode="External"/><Relationship Id="rId4" Type="http://schemas.openxmlformats.org/officeDocument/2006/relationships/hyperlink" Target="https://docs.google.com/spreadsheets/d/1qiQvcPA26f4c0_dkaZIgHsgq9LiEwsNY/edit?gid=1761790081#gid=1761790081" TargetMode="External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qiQvcPA26f4c0_dkaZIgHsgq9LiEwsNY/edit?gid=1761790081#gid=1761790081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spreadsheets/d/1qiQvcPA26f4c0_dkaZIgHsgq9LiEwsNY/edit?gid=1761790081#gid=1761790081" TargetMode="External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hyperlink" Target="https://docs.google.com/spreadsheets/d/1qiQvcPA26f4c0_dkaZIgHsgq9LiEwsNY/edit?usp=sharing&amp;ouid=117018715851685870660&amp;rtpof=true&amp;sd=true" TargetMode="External"/><Relationship Id="rId5" Type="http://schemas.openxmlformats.org/officeDocument/2006/relationships/hyperlink" Target="https://github.com/funcid/mipt-funcfund" TargetMode="External"/><Relationship Id="rId6" Type="http://schemas.openxmlformats.org/officeDocument/2006/relationships/hyperlink" Target="https://funcfund.ru/" TargetMode="External"/><Relationship Id="rId7" Type="http://schemas.openxmlformats.org/officeDocument/2006/relationships/hyperlink" Target="https://docs.google.com/spreadsheets/d/1m4OBUu6ROQznGiAB9KEl7_hpsKR53h03UPLSrKhM8G8/edit?gid=33399910#gid=33399910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spreadsheets/d/1qiQvcPA26f4c0_dkaZIgHsgq9LiEwsNY/edit?usp=sharing&amp;ouid=117018715851685870660&amp;rtpof=true&amp;sd=true" TargetMode="External"/><Relationship Id="rId10" Type="http://schemas.openxmlformats.org/officeDocument/2006/relationships/hyperlink" Target="https://zenmoney.ru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hyperlink" Target="https://www.moex.com/n76900" TargetMode="External"/><Relationship Id="rId9" Type="http://schemas.openxmlformats.org/officeDocument/2006/relationships/hyperlink" Target="https://intelinvest.ru/" TargetMode="External"/><Relationship Id="rId5" Type="http://schemas.openxmlformats.org/officeDocument/2006/relationships/hyperlink" Target="https://www.interfax.ru/business/1003027" TargetMode="External"/><Relationship Id="rId6" Type="http://schemas.openxmlformats.org/officeDocument/2006/relationships/hyperlink" Target="https://www.cbr.ru/Collection/Collection/File/49258/review_broker_24Q1.pdf" TargetMode="External"/><Relationship Id="rId7" Type="http://schemas.openxmlformats.org/officeDocument/2006/relationships/hyperlink" Target="https://smartranking.ru/ru/analytics/fintech/god-vyzovov-i-adaptacii-fintech-rynok-vyros-na-14-v-2024-godu-i-voshel-v-zonu-plato/" TargetMode="External"/><Relationship Id="rId8" Type="http://schemas.openxmlformats.org/officeDocument/2006/relationships/hyperlink" Target="https://global.snowball-income.com/pricin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623" y="156412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315775" y="533125"/>
            <a:ext cx="8369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№</a:t>
            </a:r>
            <a:r>
              <a:rPr b="1" lang="ru" sz="5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49</a:t>
            </a: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ru" sz="5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FuncFund - </a:t>
            </a:r>
            <a:endParaRPr b="1" sz="5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Arial"/>
              <a:buNone/>
            </a:pPr>
            <a:r>
              <a:rPr b="1" lang="ru" sz="5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сервис накоплений</a:t>
            </a:r>
            <a:endParaRPr b="1" sz="5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315774" y="3373825"/>
            <a:ext cx="8541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«Разработка IT-продукта»</a:t>
            </a:r>
            <a:endParaRPr b="0" i="0" sz="2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bfadd8a07_0_0"/>
          <p:cNvSpPr txBox="1"/>
          <p:nvPr/>
        </p:nvSpPr>
        <p:spPr>
          <a:xfrm>
            <a:off x="4138850" y="1251700"/>
            <a:ext cx="4401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Царюк А. В.</a:t>
            </a:r>
            <a:endParaRPr b="1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</a:t>
            </a:r>
            <a:r>
              <a:rPr b="1" i="0" lang="ru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идер проекта</a:t>
            </a:r>
            <a:endParaRPr b="1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бизнес-модели, финансовой модели, БФТ и маркетинговой стратегии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g37bfadd8a07_0_0"/>
          <p:cNvSpPr txBox="1"/>
          <p:nvPr/>
        </p:nvSpPr>
        <p:spPr>
          <a:xfrm>
            <a:off x="368558" y="284682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проекта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" name="Google Shape;68;g37bfadd8a07_0_0"/>
          <p:cNvPicPr preferRelativeResize="0"/>
          <p:nvPr/>
        </p:nvPicPr>
        <p:blipFill rotWithShape="1">
          <a:blip r:embed="rId3">
            <a:alphaModFix/>
          </a:blip>
          <a:srcRect b="5705" l="0" r="0" t="0"/>
          <a:stretch/>
        </p:blipFill>
        <p:spPr>
          <a:xfrm>
            <a:off x="512775" y="1251700"/>
            <a:ext cx="3300299" cy="3028125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bfadd8a07_0_63"/>
          <p:cNvSpPr txBox="1"/>
          <p:nvPr/>
        </p:nvSpPr>
        <p:spPr>
          <a:xfrm>
            <a:off x="321325" y="268500"/>
            <a:ext cx="82188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g37bfadd8a07_0_63"/>
          <p:cNvSpPr txBox="1"/>
          <p:nvPr/>
        </p:nvSpPr>
        <p:spPr>
          <a:xfrm>
            <a:off x="416100" y="1038750"/>
            <a:ext cx="81678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Ключевая проблема</a:t>
            </a: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Люди, ведущие личные финансы, тратят много времени на сбор и сверку данных о стоимости своих активов, и в итоге принимают финансовые решения на основе устаревшей или неполной информации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Нет единой картины: большинство решений показывает данные по отдельным инструментам, из-за чего сложно понять реальную стоимость сбережений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Риск ошибочных решений: без актуальных данных пользователи действуют интуитивно, что приводит к упущенной выгоде или лишним рискам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g37bfadd8a07_0_63"/>
          <p:cNvSpPr/>
          <p:nvPr/>
        </p:nvSpPr>
        <p:spPr>
          <a:xfrm>
            <a:off x="416100" y="3447850"/>
            <a:ext cx="8167800" cy="130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7bfadd8a07_0_63"/>
          <p:cNvSpPr txBox="1"/>
          <p:nvPr/>
        </p:nvSpPr>
        <p:spPr>
          <a:xfrm>
            <a:off x="416100" y="3448050"/>
            <a:ext cx="81678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Решения сегодня: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Финансовые приложения (Тинькофф, ВТБ, Мосбиржа) -</a:t>
            </a:r>
            <a:r>
              <a:rPr lang="ru" sz="1200">
                <a:solidFill>
                  <a:srgbClr val="E0666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ru" sz="12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замкнуты на своей экосистеме</a:t>
            </a:r>
            <a:endParaRPr i="1" sz="1200">
              <a:solidFill>
                <a:srgbClr val="CC41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Snowball-Income - </a:t>
            </a:r>
            <a:r>
              <a:rPr i="1" lang="ru" sz="12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мало типов активов</a:t>
            </a:r>
            <a:endParaRPr i="1" sz="1200">
              <a:solidFill>
                <a:srgbClr val="CC412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Excel - </a:t>
            </a:r>
            <a:r>
              <a:rPr i="1" lang="ru" sz="1200">
                <a:solidFill>
                  <a:srgbClr val="CC4125"/>
                </a:solidFill>
                <a:latin typeface="Montserrat"/>
                <a:ea typeface="Montserrat"/>
                <a:cs typeface="Montserrat"/>
                <a:sym typeface="Montserrat"/>
              </a:rPr>
              <a:t>ручная настройка</a:t>
            </a:r>
            <a:endParaRPr i="1" sz="1200">
              <a:solidFill>
                <a:srgbClr val="CC41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g374932e7af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g374932e7afe_0_3"/>
          <p:cNvSpPr txBox="1"/>
          <p:nvPr/>
        </p:nvSpPr>
        <p:spPr>
          <a:xfrm>
            <a:off x="321325" y="268500"/>
            <a:ext cx="82188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Острота проблемы: теоретический анализ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g374932e7af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0421" y="2866600"/>
            <a:ext cx="2397204" cy="4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74932e7afe_0_3"/>
          <p:cNvSpPr txBox="1"/>
          <p:nvPr/>
        </p:nvSpPr>
        <p:spPr>
          <a:xfrm>
            <a:off x="335525" y="1530350"/>
            <a:ext cx="4367700" cy="30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1/3 пользователей используют ≥3 </a:t>
            </a: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финансовых </a:t>
            </a:r>
            <a:r>
              <a:rPr b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приложений </a:t>
            </a: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данные фрагментированы [5]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CustDev: </a:t>
            </a:r>
            <a:r>
              <a:rPr b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14 из 14</a:t>
            </a: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респондентов ведут учет фрагментированно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35,1 млн</a:t>
            </a:r>
            <a:r>
              <a:rPr lang="ru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частных инвесторов имеют брокерские счета в РФ (2024)</a:t>
            </a:r>
            <a:endParaRPr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g374932e7afe_0_3"/>
          <p:cNvSpPr txBox="1"/>
          <p:nvPr/>
        </p:nvSpPr>
        <p:spPr>
          <a:xfrm>
            <a:off x="5785988" y="2930750"/>
            <a:ext cx="30402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2.4% * 630 000 ₽ / 12 = </a:t>
            </a: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1260 ₽ / месяц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~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630 000 ₽ - средний портфель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~2.4% -  потеря доходности / год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6" name="Google Shape;86;g374932e7afe_0_3"/>
          <p:cNvGraphicFramePr/>
          <p:nvPr/>
        </p:nvGraphicFramePr>
        <p:xfrm>
          <a:off x="5960425" y="153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{147CB93B-3200-4EA4-926C-FBB3100A5CB0}</a:tableStyleId>
              </a:tblPr>
              <a:tblGrid>
                <a:gridCol w="2691325"/>
              </a:tblGrid>
              <a:tr h="1120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25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1260</a:t>
                      </a:r>
                      <a:br>
                        <a:rPr lang="ru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ru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рублей / месяц </a:t>
                      </a:r>
                      <a:r>
                        <a:rPr lang="ru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потенциальная цена фрагментации данных</a:t>
                      </a:r>
                      <a:endParaRPr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3194"/>
                    </a:solidFill>
                  </a:tcPr>
                </a:tc>
              </a:tr>
            </a:tbl>
          </a:graphicData>
        </a:graphic>
      </p:graphicFrame>
      <p:sp>
        <p:nvSpPr>
          <p:cNvPr id="87" name="Google Shape;87;g374932e7afe_0_3"/>
          <p:cNvSpPr txBox="1"/>
          <p:nvPr/>
        </p:nvSpPr>
        <p:spPr>
          <a:xfrm>
            <a:off x="2885100" y="4627500"/>
            <a:ext cx="6114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Ссылка на полный анализ потребительских сегментов</a:t>
            </a:r>
            <a:endParaRPr b="0" i="0" sz="1600" u="sng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/>
        </p:nvSpPr>
        <p:spPr>
          <a:xfrm>
            <a:off x="332550" y="271600"/>
            <a:ext cx="85200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08750" y="986400"/>
            <a:ext cx="8132100" cy="3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FuncFund 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сервис учета и аналитики портфеля для DIY-инвесторов MOEX с 2+ счетами, который собирает брокеров, банки и внешние активы в один дашборд: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меньше ручной сверки, меньше ошибок в учете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актуальная картина портфеля в одном месте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УТП: </a:t>
            </a: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 отличие от брокерских приложений, FuncFund не замыкается на одной экосистеме и позволяет учитывать внешние активы: другие брокеры, банки, ИИС, валюту и ручные позиции</a:t>
            </a:r>
            <a:endParaRPr b="1" i="1" sz="1300" u="sng">
              <a:solidFill>
                <a:schemeClr val="dk1"/>
              </a:solidFill>
              <a:highlight>
                <a:srgbClr val="FF0000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Технологии в основе: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API-интеграции с биржевыми и финансовыми источниками данных (индексы, металлы, ключевая ставка)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Импорт CSV/брокерских отчетов, нормализация операций, единая модель портфеля, авто-классификация транзакций, интеграции с рыночными данными MOEX/ЦБ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3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g3e0ea8cbde0_0_175"/>
          <p:cNvGraphicFramePr/>
          <p:nvPr/>
        </p:nvGraphicFramePr>
        <p:xfrm>
          <a:off x="383650" y="98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{F16A1FA7-1C89-4CA4-B67B-C98F6BAC3C0A}</a:tableStyleId>
              </a:tblPr>
              <a:tblGrid>
                <a:gridCol w="8297500"/>
              </a:tblGrid>
              <a:tr h="38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DIY-инвесторы MOEX с 2+ счетами</a:t>
                      </a:r>
                      <a:endParaRPr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Объединяющая потребность: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Видеть весь портфель в одном месте без Excel и ручной сверки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Ценностное предложение: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Единый дашборд по брокерам, банкам, ИИС и внешним активам</a:t>
                      </a:r>
                      <a:r>
                        <a:rPr lang="ru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Приоритет </a:t>
                      </a:r>
                      <a:r>
                        <a:rPr lang="ru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№ 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CustDev:</a:t>
                      </a:r>
                      <a:r>
                        <a:rPr lang="ru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14 интервью; 14/14 используют 2+ финансовых источника, ключевая боль — фрагментация данных и ручная сверка.</a:t>
                      </a:r>
                      <a:endParaRPr u="none" cap="none" strike="noStrik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Конечные пользователи:</a:t>
                      </a:r>
                      <a:r>
                        <a:rPr i="1" lang="ru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сам инвестор = ЛПР и ЛВР.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0" name="Google Shape;100;g3e0ea8cbde0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e0ea8cbde0_0_175"/>
          <p:cNvSpPr txBox="1"/>
          <p:nvPr/>
        </p:nvSpPr>
        <p:spPr>
          <a:xfrm>
            <a:off x="368550" y="279500"/>
            <a:ext cx="85032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Потребительски</a:t>
            </a:r>
            <a:r>
              <a:rPr b="1" lang="ru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й</a:t>
            </a: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 сегмент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g3e0ea8cbde0_0_175"/>
          <p:cNvSpPr txBox="1"/>
          <p:nvPr/>
        </p:nvSpPr>
        <p:spPr>
          <a:xfrm>
            <a:off x="2885100" y="4627500"/>
            <a:ext cx="6114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Ссылка на полный анализ потребительских сегментов</a:t>
            </a:r>
            <a:endParaRPr b="0" i="0" sz="1600" u="sng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e0ea8cbde0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e0ea8cbde0_0_237"/>
          <p:cNvSpPr txBox="1"/>
          <p:nvPr/>
        </p:nvSpPr>
        <p:spPr>
          <a:xfrm>
            <a:off x="332325" y="246500"/>
            <a:ext cx="82842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Конкурентный анализ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9" name="Google Shape;109;g3e0ea8cbde0_0_237"/>
          <p:cNvGraphicFramePr/>
          <p:nvPr/>
        </p:nvGraphicFramePr>
        <p:xfrm>
          <a:off x="473550" y="133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{F16A1FA7-1C89-4CA4-B67B-C98F6BAC3C0A}</a:tableStyleId>
              </a:tblPr>
              <a:tblGrid>
                <a:gridCol w="1686875"/>
                <a:gridCol w="1513825"/>
                <a:gridCol w="1600350"/>
                <a:gridCol w="1600350"/>
                <a:gridCol w="1600350"/>
              </a:tblGrid>
              <a:tr h="630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" sz="1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Основные конкуренты </a:t>
                      </a:r>
                      <a:endParaRPr b="1"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Т-Инвестиции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Snowball Income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Intelinvest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FuncFund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Агрегация разных источников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Только экосистема Т-Банка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Частично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Да: брокеры, банки, ИИС, внешние активы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Учет внешних активов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Ограничен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Частично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Ключевой фокус продукта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Фокус на ручной сверке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Нет, это брокерское приложение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Частично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Частично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 sz="1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Да: замена Excel и ручного учета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" name="Google Shape;110;g3e0ea8cbde0_0_237"/>
          <p:cNvSpPr txBox="1"/>
          <p:nvPr/>
        </p:nvSpPr>
        <p:spPr>
          <a:xfrm>
            <a:off x="2885100" y="4627500"/>
            <a:ext cx="6114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Ссылка на полный анализ </a:t>
            </a:r>
            <a:r>
              <a:rPr lang="ru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конкурентов</a:t>
            </a:r>
            <a:endParaRPr b="0" i="0" sz="1600" u="sng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e0ea8cbde0_0_3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e0ea8cbde0_0_300"/>
          <p:cNvSpPr txBox="1"/>
          <p:nvPr/>
        </p:nvSpPr>
        <p:spPr>
          <a:xfrm>
            <a:off x="321325" y="246500"/>
            <a:ext cx="82188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Инновационность и технологичность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7" name="Google Shape;117;g3e0ea8cbde0_0_300"/>
          <p:cNvGraphicFramePr/>
          <p:nvPr/>
        </p:nvGraphicFramePr>
        <p:xfrm>
          <a:off x="492100" y="113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{F16A1FA7-1C89-4CA4-B67B-C98F6BAC3C0A}</a:tableStyleId>
              </a:tblPr>
              <a:tblGrid>
                <a:gridCol w="2012900"/>
                <a:gridCol w="5864350"/>
              </a:tblGrid>
              <a:tr h="39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Уникальное торговое предложение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FuncFund объединяет данные из разных брокеров, банков и внешних активов в одном дашборде, заменяя ручную сверку в Excel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ru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Инновационная составляющая</a:t>
                      </a:r>
                      <a:endParaRPr b="1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Мы разработали подход к склейке разрозненных финансовых данных: импорт отчетов/CSV, нормализация операций, авто-классификация транзакций и единая модель портфеля. Это позволяет учитывать брокеров, банки, ИИС, валюту и внешние активы в одном интерфейсе без ручного пересчета</a:t>
                      </a:r>
                      <a:endParaRPr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e0ea8cbde0_0_3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e0ea8cbde0_0_357"/>
          <p:cNvSpPr txBox="1"/>
          <p:nvPr/>
        </p:nvSpPr>
        <p:spPr>
          <a:xfrm>
            <a:off x="332325" y="257500"/>
            <a:ext cx="82842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Бизнес-функциональные требования</a:t>
            </a:r>
            <a:endParaRPr b="1" i="0" sz="2800" u="none" cap="none" strike="noStrike">
              <a:solidFill>
                <a:srgbClr val="99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g3e0ea8cbde0_0_357"/>
          <p:cNvSpPr txBox="1"/>
          <p:nvPr/>
        </p:nvSpPr>
        <p:spPr>
          <a:xfrm>
            <a:off x="396675" y="1040750"/>
            <a:ext cx="8155500" cy="20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Компоненты нашего продукта:</a:t>
            </a:r>
            <a:endParaRPr b="1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Импорт данных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Нормализация операций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Единая модель портфеля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</a:pPr>
            <a:r>
              <a:rPr lang="ru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Дашборд аналитики</a:t>
            </a:r>
            <a:endParaRPr b="0" i="0" sz="1600" u="none" cap="none" strike="noStrik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g3e0ea8cbde0_0_357"/>
          <p:cNvSpPr txBox="1"/>
          <p:nvPr/>
        </p:nvSpPr>
        <p:spPr>
          <a:xfrm>
            <a:off x="1003500" y="4627500"/>
            <a:ext cx="7996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Ссылка на полные БФТ и метод Бордо</a:t>
            </a:r>
            <a:endParaRPr b="0" i="0" sz="1600" u="sng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0ea8cbde0_0_415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Объем рынка: TAM, SAM, SOM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3e0ea8cbde0_0_415"/>
          <p:cNvSpPr txBox="1"/>
          <p:nvPr/>
        </p:nvSpPr>
        <p:spPr>
          <a:xfrm>
            <a:off x="460950" y="3467025"/>
            <a:ext cx="8078100" cy="105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Тренды и драйверы роста рынка.</a:t>
            </a:r>
            <a:r>
              <a:rPr b="0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Рост числа частных инвесторов в РФ, мультисчетность, переход от ручного учета в Excel к автоматизированным сервисам.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Подтверждение расчетов.</a:t>
            </a:r>
            <a:r>
              <a:rPr b="1" i="0" lang="ru" sz="10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Мосбиржа — 35,1 млн частных инвесторов, 10,2 млн совершали сделки в 2024; CustDev — 14/14 используют 2+ финансовых источника.</a:t>
            </a:r>
            <a:endParaRPr b="0" sz="1000" u="sng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2" name="Google Shape;132;g3e0ea8cbde0_0_415"/>
          <p:cNvGraphicFramePr/>
          <p:nvPr/>
        </p:nvGraphicFramePr>
        <p:xfrm>
          <a:off x="461025" y="1062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{F16A1FA7-1C89-4CA4-B67B-C98F6BAC3C0A}</a:tableStyleId>
              </a:tblPr>
              <a:tblGrid>
                <a:gridCol w="2692650"/>
                <a:gridCol w="2692650"/>
                <a:gridCol w="2692650"/>
              </a:tblGrid>
              <a:tr h="46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TAM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SAM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" sz="1400" u="none" cap="none" strike="noStrike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SOM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B2C-рынок цифровых инструментов учета и аналитики инвестиционного портфеля для частных инвесторов РФ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5–7 млрд ₽ / год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~2,04 млн активных платящих пользователей</a:t>
                      </a:r>
                      <a:endParaRPr sz="1200" u="none" cap="none" strike="noStrike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GTM-ниши FuncFund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13,06 млрд ₽ / год</a:t>
                      </a:r>
                      <a:endParaRPr sz="1200" u="none" cap="none" strike="noStrike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4,26 млн потенциальных пользователей</a:t>
                      </a:r>
                      <a:endParaRPr sz="1200" u="none" cap="none" strike="noStrik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Достижимая доля рынка к 3-му году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600 млн ₽ / год</a:t>
                      </a:r>
                      <a:endParaRPr sz="1200" u="none" cap="none" strike="noStrike">
                        <a:solidFill>
                          <a:srgbClr val="CC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200 тыс. платящих пользователей</a:t>
                      </a:r>
                      <a:endParaRPr sz="1200" u="none" cap="none" strike="noStrik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2319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g3e0ea8cbde0_0_415"/>
          <p:cNvSpPr txBox="1"/>
          <p:nvPr/>
        </p:nvSpPr>
        <p:spPr>
          <a:xfrm>
            <a:off x="1003500" y="4627500"/>
            <a:ext cx="7996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Ссылка на </a:t>
            </a:r>
            <a:r>
              <a:rPr lang="ru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источники и расчёты</a:t>
            </a:r>
            <a:endParaRPr b="0" i="0" sz="1600" u="sng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4" name="Google Shape;134;g3e0ea8cbde0_0_4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e0ea8cbde0_0_5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e0ea8cbde0_0_533"/>
          <p:cNvSpPr txBox="1"/>
          <p:nvPr/>
        </p:nvSpPr>
        <p:spPr>
          <a:xfrm>
            <a:off x="368554" y="284075"/>
            <a:ext cx="41631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Демо прототипа 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e0ea8cbde0_0_533"/>
          <p:cNvSpPr txBox="1"/>
          <p:nvPr/>
        </p:nvSpPr>
        <p:spPr>
          <a:xfrm>
            <a:off x="2914972" y="2242006"/>
            <a:ext cx="30027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ru" sz="2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Изображение прототипа/MVP</a:t>
            </a:r>
            <a:endParaRPr b="0" i="0" sz="2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g3e0ea8cbde0_0_5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287" y="885300"/>
            <a:ext cx="7353424" cy="3607775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0ea8cbde0_0_593"/>
          <p:cNvSpPr txBox="1"/>
          <p:nvPr/>
        </p:nvSpPr>
        <p:spPr>
          <a:xfrm>
            <a:off x="350325" y="290150"/>
            <a:ext cx="816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Бизнес-модель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g3e0ea8cbde0_0_593"/>
          <p:cNvSpPr/>
          <p:nvPr/>
        </p:nvSpPr>
        <p:spPr>
          <a:xfrm>
            <a:off x="4410850" y="1139300"/>
            <a:ext cx="4385700" cy="3097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11600" spcFirstLastPara="1" rIns="182875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Потоки доходов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B2C-подписка для DIY-инвесторов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Базовый тариф: около 3 000 ₽/год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Pro-тариф: расширенная аналитика и больше источников данных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Freemium/trial для входа в продукт</a:t>
            </a:r>
            <a:endParaRPr b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g3e0ea8cbde0_0_593"/>
          <p:cNvSpPr/>
          <p:nvPr/>
        </p:nvSpPr>
        <p:spPr>
          <a:xfrm>
            <a:off x="459850" y="1139300"/>
            <a:ext cx="3951000" cy="3097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11600" spcFirstLastPara="1" rIns="182875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затрат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backend/frontend и data pipeline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Инфраструктура, хранение данных и мониторинг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Поддержка импорта брокерских отчетов/CSV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Безопасность данных и юридическая проверка формулировок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Контент-маркетинг, CustDev и поддержка пользователей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g3e0ea8cbde0_0_5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e0ea8cbde0_0_593"/>
          <p:cNvSpPr txBox="1"/>
          <p:nvPr/>
        </p:nvSpPr>
        <p:spPr>
          <a:xfrm>
            <a:off x="1003500" y="4627500"/>
            <a:ext cx="7996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Ссылка на полную модель</a:t>
            </a:r>
            <a:endParaRPr b="0" i="0" sz="1600" u="sng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0ea8cbde0_0_652"/>
          <p:cNvSpPr/>
          <p:nvPr/>
        </p:nvSpPr>
        <p:spPr>
          <a:xfrm>
            <a:off x="2060275" y="2672075"/>
            <a:ext cx="1626300" cy="15816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 ресурсы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разработки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g3e0ea8cbde0_0_652"/>
          <p:cNvSpPr/>
          <p:nvPr/>
        </p:nvSpPr>
        <p:spPr>
          <a:xfrm>
            <a:off x="2060275" y="1148450"/>
            <a:ext cx="1626300" cy="15237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 действия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Импорт и нормализация отчетов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3e0ea8cbde0_0_652"/>
          <p:cNvSpPr/>
          <p:nvPr/>
        </p:nvSpPr>
        <p:spPr>
          <a:xfrm>
            <a:off x="3660975" y="1148450"/>
            <a:ext cx="1626300" cy="3105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Ценностное предложение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Один дашборд вместо Excel и ручной сверки: брокеры, банки, ИИС и внешние активы в единой картине портфеля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g3e0ea8cbde0_0_652"/>
          <p:cNvSpPr/>
          <p:nvPr/>
        </p:nvSpPr>
        <p:spPr>
          <a:xfrm>
            <a:off x="433900" y="3191680"/>
            <a:ext cx="1626300" cy="575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Existing Alternative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3e0ea8cbde0_0_652"/>
          <p:cNvSpPr/>
          <p:nvPr/>
        </p:nvSpPr>
        <p:spPr>
          <a:xfrm>
            <a:off x="6888014" y="3191680"/>
            <a:ext cx="1626300" cy="575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" sz="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Early Adopters</a:t>
            </a:r>
            <a:endParaRPr b="0"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e0ea8cbde0_0_652"/>
          <p:cNvSpPr/>
          <p:nvPr/>
        </p:nvSpPr>
        <p:spPr>
          <a:xfrm>
            <a:off x="433900" y="1148450"/>
            <a:ext cx="1626300" cy="3105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 партнеры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Провайдеры облака и платежей; источники данных MOEX/ЦБ; инвест-сообщества и медиа; в перспективе - брокеры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g3e0ea8cbde0_0_652"/>
          <p:cNvSpPr/>
          <p:nvPr/>
        </p:nvSpPr>
        <p:spPr>
          <a:xfrm>
            <a:off x="5287350" y="1148450"/>
            <a:ext cx="1626300" cy="15237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Взаимоотношения </a:t>
            </a:r>
            <a:b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клиентами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Self-service, trial/freemium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g3e0ea8cbde0_0_652"/>
          <p:cNvSpPr/>
          <p:nvPr/>
        </p:nvSpPr>
        <p:spPr>
          <a:xfrm>
            <a:off x="5287350" y="2672075"/>
            <a:ext cx="1626300" cy="15816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Каналы сбыта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Telegram/YouTube, VC.ru, профильные чаты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g3e0ea8cbde0_0_652"/>
          <p:cNvSpPr/>
          <p:nvPr/>
        </p:nvSpPr>
        <p:spPr>
          <a:xfrm>
            <a:off x="6913725" y="1148450"/>
            <a:ext cx="1626300" cy="31053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9050">
            <a:solidFill>
              <a:srgbClr val="1231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75600" spcFirstLastPara="1" rIns="75600" wrap="square" tIns="6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b="1" i="0" lang="ru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Потребительские сегменты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DIY-инвесторы MOEX с 2+ счетами/банками и ручной сверкой в Excel/Google Sheets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g3e0ea8cbde0_0_652"/>
          <p:cNvSpPr txBox="1"/>
          <p:nvPr/>
        </p:nvSpPr>
        <p:spPr>
          <a:xfrm>
            <a:off x="350325" y="290150"/>
            <a:ext cx="816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Бизнес-модель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g3e0ea8cbde0_0_652"/>
          <p:cNvSpPr txBox="1"/>
          <p:nvPr/>
        </p:nvSpPr>
        <p:spPr>
          <a:xfrm>
            <a:off x="1003500" y="4627500"/>
            <a:ext cx="79965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" sz="16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Ссылка на полную модель</a:t>
            </a:r>
            <a:endParaRPr b="0" i="0" sz="1600" u="sng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7" name="Google Shape;167;g3e0ea8cbde0_0_6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g3e0ea8cbde0_0_7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e0ea8cbde0_0_719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продукта: roadmap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g3e0ea8cbde0_0_719"/>
          <p:cNvSpPr txBox="1"/>
          <p:nvPr/>
        </p:nvSpPr>
        <p:spPr>
          <a:xfrm>
            <a:off x="408600" y="1075900"/>
            <a:ext cx="8167800" cy="3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Q1: MVP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Импорт CSV/брокерских отчетов, базовая модель портфеля, ручное добавление внешних активов, первый дашборд структуры портфеля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Q2: Beta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Поддержка 2–3 популярных брокеров, нормализация операций, онбординг DIY-инвесторов MOEX, закрытая beta по CustDev-базе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Q3: Go-To-Market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Запуск первой GTM-ниши: инвесторы MOEX с 2+ счетами; trial/freemium, Telegram/VC.ru/SEO, первые платящие пользователи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Q4: Scale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Pro-функции: расширенная аналитика, больше источников данных, уведомления, реферальная механика, подготовка к масштабированию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4"/>
          <p:cNvSpPr txBox="1"/>
          <p:nvPr/>
        </p:nvSpPr>
        <p:spPr>
          <a:xfrm>
            <a:off x="292358" y="3683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Артефакты проекта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279600" y="1024949"/>
            <a:ext cx="8167800" cy="30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3194"/>
              </a:buClr>
              <a:buSzPts val="1800"/>
              <a:buFont typeface="Montserrat"/>
              <a:buChar char="●"/>
            </a:pPr>
            <a:r>
              <a:rPr b="0" i="0" lang="ru" sz="18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Паспорт проекта</a:t>
            </a:r>
            <a:endParaRPr sz="1800" u="sng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3194"/>
              </a:buClr>
              <a:buSzPts val="1800"/>
              <a:buFont typeface="Montserrat"/>
              <a:buChar char="●"/>
            </a:pPr>
            <a:r>
              <a:rPr lang="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Репозиторий проекта</a:t>
            </a:r>
            <a:endParaRPr sz="1800" u="sng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3194"/>
              </a:buClr>
              <a:buSzPts val="1800"/>
              <a:buFont typeface="Montserrat"/>
              <a:buChar char="●"/>
            </a:pPr>
            <a:r>
              <a:rPr lang="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Веб-сайт</a:t>
            </a:r>
            <a:endParaRPr sz="1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Доска метод Бордо</a:t>
            </a:r>
            <a:endParaRPr sz="18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0ea8cbde0_0_775"/>
          <p:cNvSpPr txBox="1"/>
          <p:nvPr/>
        </p:nvSpPr>
        <p:spPr>
          <a:xfrm>
            <a:off x="419950" y="1043275"/>
            <a:ext cx="7758000" cy="3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Царюк Артём Владимирович</a:t>
            </a:r>
            <a:endParaRPr b="1" i="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Автор проекта / продуктовый аналитик / разработчик</a:t>
            </a:r>
            <a:endParaRPr b="1" i="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Личный вклад: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 Провел CustDev: 14 интервью с потенциальными пользователями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2. Выделил приоритетный сегмент MVP: DIY-инвесторы MOEX с 2+ счетами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 Провел конкурентный анализ брокерских приложений и сервисов учета портфеля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4. Сформулировал УТП FuncFund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5. Рассчитал TAM/SAM/SOM и подготовил бизнес-модель Остервальдера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6. Описал MVP, технологические компоненты и roadmap развития продукта.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g3e0ea8cbde0_0_775"/>
          <p:cNvSpPr txBox="1"/>
          <p:nvPr/>
        </p:nvSpPr>
        <p:spPr>
          <a:xfrm>
            <a:off x="368558" y="284682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Личный вклад каждого участника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g3e0ea8cbde0_0_7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 txBox="1"/>
          <p:nvPr/>
        </p:nvSpPr>
        <p:spPr>
          <a:xfrm>
            <a:off x="292358" y="3683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368558" y="292137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Источники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15"/>
          <p:cNvSpPr txBox="1"/>
          <p:nvPr/>
        </p:nvSpPr>
        <p:spPr>
          <a:xfrm>
            <a:off x="203393" y="948744"/>
            <a:ext cx="81678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Московская биржа. Статистика частных инвесторов и динамика брокерских счетов.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Interfax. Частные инвесторы на Московской бирже: итоги 2024 года по данным Мосбиржи.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2025.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Банк России. Обзор ключевых показателей брокеров: I квартал 2024 года.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М.: Банк России,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Smart Ranking. Финтех-рынок России: итоги 2024 года и динамика сегмента «Личные финансы».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Snowball Income. Тарифы и описание сервиса аналитики инвестиционного портфеля.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Intelinvest. Описание сервиса учета и аналитики инвестиционного портфеля.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Zenmoney. Описание сервиса персонального финансового учета.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2024.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Montserrat"/>
              <a:buChar char="●"/>
            </a:pPr>
            <a:r>
              <a:rPr lang="ru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1"/>
              </a:rPr>
              <a:t>FuncFund. Результаты CustDev-интервью с потенциальными пользователями: 14 интервью.</a:t>
            </a:r>
            <a:r>
              <a:rPr lang="ru" sz="1200">
                <a:latin typeface="Montserrat"/>
                <a:ea typeface="Montserrat"/>
                <a:cs typeface="Montserrat"/>
                <a:sym typeface="Montserrat"/>
              </a:rPr>
              <a:t> — 2025.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6"/>
          <p:cNvPicPr preferRelativeResize="0"/>
          <p:nvPr/>
        </p:nvPicPr>
        <p:blipFill rotWithShape="1">
          <a:blip r:embed="rId4">
            <a:alphaModFix/>
          </a:blip>
          <a:srcRect b="36008" l="0" r="47182" t="0"/>
          <a:stretch/>
        </p:blipFill>
        <p:spPr>
          <a:xfrm>
            <a:off x="4816900" y="266775"/>
            <a:ext cx="4183099" cy="478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315779" y="380733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endParaRPr b="1" i="0" sz="5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ru" sz="57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 внимание!</a:t>
            </a:r>
            <a:endParaRPr b="1" i="0" sz="57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