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040000" cx="9000000"/>
  <p:notesSz cx="6858000" cy="9144000"/>
  <p:embeddedFontLst>
    <p:embeddedFont>
      <p:font typeface="Libre Franklin"/>
      <p:regular r:id="rId43"/>
      <p:bold r:id="rId44"/>
      <p:italic r:id="rId45"/>
      <p:boldItalic r:id="rId46"/>
    </p:embeddedFont>
    <p:embeddedFont>
      <p:font typeface="Montserrat"/>
      <p:regular r:id="rId47"/>
      <p:bold r:id="rId48"/>
      <p:italic r:id="rId49"/>
      <p:boldItalic r:id="rId50"/>
    </p:embeddedFont>
    <p:embeddedFont>
      <p:font typeface="Quattrocento Sans"/>
      <p:regular r:id="rId51"/>
      <p:bold r:id="rId52"/>
      <p:italic r:id="rId53"/>
      <p:boldItalic r:id="rId54"/>
    </p:embeddedFont>
    <p:embeddedFont>
      <p:font typeface="Arial Black"/>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90">
          <p15:clr>
            <a:srgbClr val="747775"/>
          </p15:clr>
        </p15:guide>
        <p15:guide id="2" pos="5380">
          <p15:clr>
            <a:srgbClr val="747775"/>
          </p15:clr>
        </p15:guide>
        <p15:guide id="3" orient="horz" pos="718">
          <p15:clr>
            <a:srgbClr val="747775"/>
          </p15:clr>
        </p15:guide>
        <p15:guide id="4" orient="horz" pos="283">
          <p15:clr>
            <a:srgbClr val="747775"/>
          </p15:clr>
        </p15:guide>
        <p15:guide id="5" pos="2087">
          <p15:clr>
            <a:srgbClr val="747775"/>
          </p15:clr>
        </p15:guide>
      </p15:sldGuideLst>
    </p:ext>
    <p:ext uri="GoogleSlidesCustomDataVersion2">
      <go:slidesCustomData xmlns:go="http://customooxmlschemas.google.com/" r:id="rId56" roundtripDataSignature="AMtx7miq9URDUwVu6JzAd4FeTpPwh8Tx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C42287-9CCA-4F47-93BB-E4E9780593B4}">
  <a:tblStyle styleId="{FFC42287-9CCA-4F47-93BB-E4E9780593B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0"/>
        <p:guide pos="5380"/>
        <p:guide pos="718" orient="horz"/>
        <p:guide pos="283" orient="horz"/>
        <p:guide pos="208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LibreFranklin-bold.fntdata"/><Relationship Id="rId43" Type="http://schemas.openxmlformats.org/officeDocument/2006/relationships/font" Target="fonts/LibreFranklin-regular.fntdata"/><Relationship Id="rId46" Type="http://schemas.openxmlformats.org/officeDocument/2006/relationships/font" Target="fonts/LibreFranklin-boldItalic.fntdata"/><Relationship Id="rId45" Type="http://schemas.openxmlformats.org/officeDocument/2006/relationships/font" Target="fonts/LibreFranklin-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QuattrocentoSans-regular.fntdata"/><Relationship Id="rId50" Type="http://schemas.openxmlformats.org/officeDocument/2006/relationships/font" Target="fonts/Montserrat-boldItalic.fntdata"/><Relationship Id="rId53" Type="http://schemas.openxmlformats.org/officeDocument/2006/relationships/font" Target="fonts/QuattrocentoSans-italic.fntdata"/><Relationship Id="rId52" Type="http://schemas.openxmlformats.org/officeDocument/2006/relationships/font" Target="fonts/QuattrocentoSans-bold.fntdata"/><Relationship Id="rId11" Type="http://schemas.openxmlformats.org/officeDocument/2006/relationships/slide" Target="slides/slide5.xml"/><Relationship Id="rId55" Type="http://schemas.openxmlformats.org/officeDocument/2006/relationships/font" Target="fonts/ArialBlack-regular.fntdata"/><Relationship Id="rId10" Type="http://schemas.openxmlformats.org/officeDocument/2006/relationships/slide" Target="slides/slide4.xml"/><Relationship Id="rId54" Type="http://schemas.openxmlformats.org/officeDocument/2006/relationships/font" Target="fonts/QuattrocentoSans-bold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367785" y="685800"/>
            <a:ext cx="6122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37f0c53b1_0_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b37f0c53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6: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7: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8: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9: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0: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4: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5:notes"/>
          <p:cNvSpPr/>
          <p:nvPr>
            <p:ph idx="2" type="sldImg"/>
          </p:nvPr>
        </p:nvSpPr>
        <p:spPr>
          <a:xfrm>
            <a:off x="367712" y="685800"/>
            <a:ext cx="6123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body">
  <p:cSld name="3_Title and body">
    <p:spTree>
      <p:nvGrpSpPr>
        <p:cNvPr id="9" name="Shape 9"/>
        <p:cNvGrpSpPr/>
        <p:nvPr/>
      </p:nvGrpSpPr>
      <p:grpSpPr>
        <a:xfrm>
          <a:off x="0" y="0"/>
          <a:ext cx="0" cy="0"/>
          <a:chOff x="0" y="0"/>
          <a:chExt cx="0" cy="0"/>
        </a:xfrm>
      </p:grpSpPr>
      <p:sp>
        <p:nvSpPr>
          <p:cNvPr id="10" name="Google Shape;10;p37"/>
          <p:cNvSpPr txBox="1"/>
          <p:nvPr>
            <p:ph type="title"/>
          </p:nvPr>
        </p:nvSpPr>
        <p:spPr>
          <a:xfrm>
            <a:off x="320992" y="205833"/>
            <a:ext cx="8400000" cy="1084800"/>
          </a:xfrm>
          <a:prstGeom prst="rect">
            <a:avLst/>
          </a:prstGeom>
          <a:noFill/>
          <a:ln>
            <a:noFill/>
          </a:ln>
        </p:spPr>
        <p:txBody>
          <a:bodyPr anchorCtr="0" anchor="t" bIns="33375" lIns="33375" spcFirstLastPara="1" rIns="33375" wrap="square" tIns="33375">
            <a:noAutofit/>
          </a:bodyPr>
          <a:lstStyle>
            <a:lvl1pPr lvl="0" marR="0" algn="l">
              <a:lnSpc>
                <a:spcPct val="100000"/>
              </a:lnSpc>
              <a:spcBef>
                <a:spcPts val="0"/>
              </a:spcBef>
              <a:spcAft>
                <a:spcPts val="0"/>
              </a:spcAft>
              <a:buClr>
                <a:schemeClr val="dk1"/>
              </a:buClr>
              <a:buSzPts val="3100"/>
              <a:buFont typeface="Arial Black"/>
              <a:buNone/>
              <a:defRPr b="1" i="0" sz="3100" u="none" cap="none" strike="noStrike">
                <a:solidFill>
                  <a:srgbClr val="0072BC"/>
                </a:solidFill>
                <a:latin typeface="Arial Black"/>
                <a:ea typeface="Arial Black"/>
                <a:cs typeface="Arial Black"/>
                <a:sym typeface="Arial Black"/>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1" name="Google Shape;11;p37"/>
          <p:cNvSpPr txBox="1"/>
          <p:nvPr>
            <p:ph idx="1" type="body"/>
          </p:nvPr>
        </p:nvSpPr>
        <p:spPr>
          <a:xfrm>
            <a:off x="338765" y="1435000"/>
            <a:ext cx="3925500" cy="3008400"/>
          </a:xfrm>
          <a:prstGeom prst="rect">
            <a:avLst/>
          </a:prstGeom>
          <a:noFill/>
          <a:ln>
            <a:noFill/>
          </a:ln>
        </p:spPr>
        <p:txBody>
          <a:bodyPr anchorCtr="0" anchor="t" bIns="33375" lIns="33375" spcFirstLastPara="1" rIns="33375" wrap="square" tIns="33375">
            <a:noAutofit/>
          </a:bodyPr>
          <a:lstStyle>
            <a:lvl1pPr indent="-228600" lvl="0" marL="457200" algn="l">
              <a:lnSpc>
                <a:spcPct val="100000"/>
              </a:lnSpc>
              <a:spcBef>
                <a:spcPts val="0"/>
              </a:spcBef>
              <a:spcAft>
                <a:spcPts val="0"/>
              </a:spcAft>
              <a:buSzPts val="1200"/>
              <a:buFont typeface="Libre Franklin"/>
              <a:buNone/>
              <a:defRPr b="0" i="0" sz="1200" u="none" cap="none" strike="noStrike">
                <a:solidFill>
                  <a:schemeClr val="dk2"/>
                </a:solidFill>
                <a:latin typeface="Libre Franklin"/>
                <a:ea typeface="Libre Franklin"/>
                <a:cs typeface="Libre Franklin"/>
                <a:sym typeface="Libre Franklin"/>
              </a:defRPr>
            </a:lvl1pPr>
            <a:lvl2pPr indent="-228600" lvl="1" marL="914400" algn="l">
              <a:lnSpc>
                <a:spcPct val="115000"/>
              </a:lnSpc>
              <a:spcBef>
                <a:spcPts val="600"/>
              </a:spcBef>
              <a:spcAft>
                <a:spcPts val="0"/>
              </a:spcAft>
              <a:buSzPts val="1400"/>
              <a:buFont typeface="Arial"/>
              <a:buNone/>
              <a:defRPr/>
            </a:lvl2pPr>
            <a:lvl3pPr indent="-228600" lvl="2" marL="1371600" algn="l">
              <a:lnSpc>
                <a:spcPct val="115000"/>
              </a:lnSpc>
              <a:spcBef>
                <a:spcPts val="600"/>
              </a:spcBef>
              <a:spcAft>
                <a:spcPts val="0"/>
              </a:spcAft>
              <a:buSzPts val="1400"/>
              <a:buFont typeface="Arial"/>
              <a:buNone/>
              <a:defRPr/>
            </a:lvl3pPr>
            <a:lvl4pPr indent="-228600" lvl="3" marL="1828800" algn="l">
              <a:lnSpc>
                <a:spcPct val="115000"/>
              </a:lnSpc>
              <a:spcBef>
                <a:spcPts val="600"/>
              </a:spcBef>
              <a:spcAft>
                <a:spcPts val="0"/>
              </a:spcAft>
              <a:buSzPts val="1400"/>
              <a:buFont typeface="Arial"/>
              <a:buNone/>
              <a:defRPr/>
            </a:lvl4pPr>
            <a:lvl5pPr indent="-228600" lvl="4" marL="2286000" algn="l">
              <a:lnSpc>
                <a:spcPct val="115000"/>
              </a:lnSpc>
              <a:spcBef>
                <a:spcPts val="600"/>
              </a:spcBef>
              <a:spcAft>
                <a:spcPts val="0"/>
              </a:spcAft>
              <a:buSzPts val="1400"/>
              <a:buFont typeface="Arial"/>
              <a:buNone/>
              <a:defRPr/>
            </a:lvl5pPr>
            <a:lvl6pPr indent="-228600" lvl="5" marL="2743200" algn="l">
              <a:lnSpc>
                <a:spcPct val="115000"/>
              </a:lnSpc>
              <a:spcBef>
                <a:spcPts val="600"/>
              </a:spcBef>
              <a:spcAft>
                <a:spcPts val="0"/>
              </a:spcAft>
              <a:buSzPts val="1400"/>
              <a:buFont typeface="Arial"/>
              <a:buNone/>
              <a:defRPr/>
            </a:lvl6pPr>
            <a:lvl7pPr indent="-228600" lvl="6" marL="3200400" algn="l">
              <a:lnSpc>
                <a:spcPct val="115000"/>
              </a:lnSpc>
              <a:spcBef>
                <a:spcPts val="600"/>
              </a:spcBef>
              <a:spcAft>
                <a:spcPts val="0"/>
              </a:spcAft>
              <a:buSzPts val="1400"/>
              <a:buFont typeface="Arial"/>
              <a:buNone/>
              <a:defRPr/>
            </a:lvl7pPr>
            <a:lvl8pPr indent="-228600" lvl="7" marL="3657600" algn="l">
              <a:lnSpc>
                <a:spcPct val="115000"/>
              </a:lnSpc>
              <a:spcBef>
                <a:spcPts val="600"/>
              </a:spcBef>
              <a:spcAft>
                <a:spcPts val="0"/>
              </a:spcAft>
              <a:buSzPts val="1400"/>
              <a:buFont typeface="Arial"/>
              <a:buNone/>
              <a:defRPr/>
            </a:lvl8pPr>
            <a:lvl9pPr indent="-228600" lvl="8" marL="4114800" algn="l">
              <a:lnSpc>
                <a:spcPct val="115000"/>
              </a:lnSpc>
              <a:spcBef>
                <a:spcPts val="600"/>
              </a:spcBef>
              <a:spcAft>
                <a:spcPts val="600"/>
              </a:spcAft>
              <a:buSzPts val="1400"/>
              <a:buFont typeface="Arial"/>
              <a:buNone/>
              <a:defRPr/>
            </a:lvl9pPr>
          </a:lstStyle>
          <a:p/>
        </p:txBody>
      </p:sp>
      <p:sp>
        <p:nvSpPr>
          <p:cNvPr id="12" name="Google Shape;12;p37"/>
          <p:cNvSpPr txBox="1"/>
          <p:nvPr>
            <p:ph idx="12" type="sldNum"/>
          </p:nvPr>
        </p:nvSpPr>
        <p:spPr>
          <a:xfrm>
            <a:off x="8339034" y="4569381"/>
            <a:ext cx="540000" cy="385800"/>
          </a:xfrm>
          <a:prstGeom prst="rect">
            <a:avLst/>
          </a:prstGeom>
          <a:noFill/>
          <a:ln>
            <a:noFill/>
          </a:ln>
        </p:spPr>
        <p:txBody>
          <a:bodyPr anchorCtr="0" anchor="ctr" bIns="33375" lIns="33375" spcFirstLastPara="1" rIns="33375" wrap="square" tIns="33375">
            <a:noAutofit/>
          </a:bodyPr>
          <a:lstStyle>
            <a:lvl1pPr indent="0" lvl="0"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92C5EB"/>
              </a:buClr>
              <a:buSzPts val="1000"/>
              <a:buFont typeface="Quattrocento Sans"/>
              <a:buNone/>
              <a:defRPr b="1" i="0" sz="1000" u="none" cap="none" strike="noStrike">
                <a:solidFill>
                  <a:srgbClr val="92C5EB"/>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extLst>
    <p:ext uri="{DCECCB84-F9BA-43D5-87BE-67443E8EF086}">
      <p15:sldGuideLst>
        <p15:guide id="1" orient="horz" pos="1587">
          <p15:clr>
            <a:srgbClr val="FBAE40"/>
          </p15:clr>
        </p15:guide>
        <p15:guide id="2" pos="28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8"/>
          <p:cNvSpPr txBox="1"/>
          <p:nvPr>
            <p:ph type="ctrTitle"/>
          </p:nvPr>
        </p:nvSpPr>
        <p:spPr>
          <a:xfrm>
            <a:off x="306800" y="729592"/>
            <a:ext cx="8386500" cy="201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38"/>
          <p:cNvSpPr txBox="1"/>
          <p:nvPr>
            <p:ph idx="1" type="subTitle"/>
          </p:nvPr>
        </p:nvSpPr>
        <p:spPr>
          <a:xfrm>
            <a:off x="306791" y="2777095"/>
            <a:ext cx="8386500" cy="77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38"/>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9"/>
          <p:cNvSpPr txBox="1"/>
          <p:nvPr>
            <p:ph type="title"/>
          </p:nvPr>
        </p:nvSpPr>
        <p:spPr>
          <a:xfrm>
            <a:off x="306791" y="2107570"/>
            <a:ext cx="8386500" cy="82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9"/>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0"/>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0"/>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40"/>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1"/>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1"/>
          <p:cNvSpPr txBox="1"/>
          <p:nvPr>
            <p:ph idx="1" type="body"/>
          </p:nvPr>
        </p:nvSpPr>
        <p:spPr>
          <a:xfrm>
            <a:off x="306791"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41"/>
          <p:cNvSpPr txBox="1"/>
          <p:nvPr>
            <p:ph idx="2" type="body"/>
          </p:nvPr>
        </p:nvSpPr>
        <p:spPr>
          <a:xfrm>
            <a:off x="4756299" y="1129284"/>
            <a:ext cx="3936900" cy="3347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41"/>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2"/>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2"/>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3"/>
          <p:cNvSpPr txBox="1"/>
          <p:nvPr>
            <p:ph type="title"/>
          </p:nvPr>
        </p:nvSpPr>
        <p:spPr>
          <a:xfrm>
            <a:off x="306791" y="544420"/>
            <a:ext cx="2763900" cy="740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3"/>
          <p:cNvSpPr txBox="1"/>
          <p:nvPr>
            <p:ph idx="1" type="body"/>
          </p:nvPr>
        </p:nvSpPr>
        <p:spPr>
          <a:xfrm>
            <a:off x="306791" y="1361638"/>
            <a:ext cx="2763900" cy="3115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43"/>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4"/>
          <p:cNvSpPr txBox="1"/>
          <p:nvPr>
            <p:ph type="title"/>
          </p:nvPr>
        </p:nvSpPr>
        <p:spPr>
          <a:xfrm>
            <a:off x="482530" y="441092"/>
            <a:ext cx="6267600" cy="4008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4"/>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5"/>
          <p:cNvSpPr/>
          <p:nvPr/>
        </p:nvSpPr>
        <p:spPr>
          <a:xfrm>
            <a:off x="4500000" y="-122"/>
            <a:ext cx="4500000" cy="5040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5"/>
          <p:cNvSpPr txBox="1"/>
          <p:nvPr>
            <p:ph type="title"/>
          </p:nvPr>
        </p:nvSpPr>
        <p:spPr>
          <a:xfrm>
            <a:off x="261319" y="1208360"/>
            <a:ext cx="3981600" cy="14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5"/>
          <p:cNvSpPr txBox="1"/>
          <p:nvPr>
            <p:ph idx="1" type="subTitle"/>
          </p:nvPr>
        </p:nvSpPr>
        <p:spPr>
          <a:xfrm>
            <a:off x="261319" y="2746670"/>
            <a:ext cx="3981600" cy="1210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5"/>
          <p:cNvSpPr txBox="1"/>
          <p:nvPr>
            <p:ph idx="2" type="body"/>
          </p:nvPr>
        </p:nvSpPr>
        <p:spPr>
          <a:xfrm>
            <a:off x="4861713" y="709505"/>
            <a:ext cx="3776700" cy="3620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5"/>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6"/>
          <p:cNvSpPr txBox="1"/>
          <p:nvPr>
            <p:ph idx="1" type="body"/>
          </p:nvPr>
        </p:nvSpPr>
        <p:spPr>
          <a:xfrm>
            <a:off x="306791" y="4145445"/>
            <a:ext cx="5904300" cy="593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7" name="Google Shape;47;p4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7"/>
          <p:cNvSpPr txBox="1"/>
          <p:nvPr>
            <p:ph hasCustomPrompt="1" type="title"/>
          </p:nvPr>
        </p:nvSpPr>
        <p:spPr>
          <a:xfrm>
            <a:off x="306791" y="1083867"/>
            <a:ext cx="8386500" cy="1924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7"/>
          <p:cNvSpPr txBox="1"/>
          <p:nvPr>
            <p:ph idx="1" type="body"/>
          </p:nvPr>
        </p:nvSpPr>
        <p:spPr>
          <a:xfrm>
            <a:off x="306791" y="3088794"/>
            <a:ext cx="8386500" cy="12747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47"/>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48"/>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06791" y="436070"/>
            <a:ext cx="8386500" cy="5613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06791" y="1129284"/>
            <a:ext cx="8386500" cy="33477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339033" y="4569381"/>
            <a:ext cx="540000" cy="3855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hyperlink" Target="https://docs.google.com/presentation/d/15QmGWP_A9z9TEuRAsS1kCirCWWYg_ljx1VcL9NkURus/edit#slide=id.g307fc95508c_0_4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ya.ru/"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0"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11.png"/><Relationship Id="rId9"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22.png"/><Relationship Id="rId8"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9.png"/><Relationship Id="rId6" Type="http://schemas.openxmlformats.org/officeDocument/2006/relationships/image" Target="../media/image16.png"/></Relationships>
</file>

<file path=ppt/slides/_rels/slide35.xml.rels><?xml version="1.0" encoding="UTF-8" standalone="yes"?><Relationships xmlns="http://schemas.openxmlformats.org/package/2006/relationships"><Relationship Id="rId10"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image" Target="../media/image25.png"/><Relationship Id="rId6"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idx="1" type="body"/>
          </p:nvPr>
        </p:nvSpPr>
        <p:spPr>
          <a:xfrm>
            <a:off x="491150" y="1092175"/>
            <a:ext cx="7223400" cy="3503700"/>
          </a:xfrm>
          <a:prstGeom prst="rect">
            <a:avLst/>
          </a:prstGeom>
          <a:noFill/>
          <a:ln>
            <a:noFill/>
          </a:ln>
        </p:spPr>
        <p:txBody>
          <a:bodyPr anchorCtr="0" anchor="t" bIns="33375" lIns="33375" spcFirstLastPara="1" rIns="33375" wrap="square" tIns="33375">
            <a:noAutofit/>
          </a:bodyPr>
          <a:lstStyle/>
          <a:p>
            <a:pPr indent="-165100" lvl="0" marL="165100" rtl="0" algn="l">
              <a:lnSpc>
                <a:spcPct val="115000"/>
              </a:lnSpc>
              <a:spcBef>
                <a:spcPts val="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Скопируйте эту презентацию себе на облачный диск в папку своего проекта</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Для заполнения используйте все артефакты, созданные в рамках работы над стартапом</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На слайдах </a:t>
            </a:r>
            <a:r>
              <a:rPr i="1" lang="ru" sz="1500">
                <a:solidFill>
                  <a:srgbClr val="CC0000"/>
                </a:solidFill>
                <a:latin typeface="Montserrat"/>
                <a:ea typeface="Montserrat"/>
                <a:cs typeface="Montserrat"/>
                <a:sym typeface="Montserrat"/>
              </a:rPr>
              <a:t>красным курсивом</a:t>
            </a:r>
            <a:r>
              <a:rPr lang="ru" sz="1500">
                <a:solidFill>
                  <a:schemeClr val="dk1"/>
                </a:solidFill>
                <a:latin typeface="Montserrat"/>
                <a:ea typeface="Montserrat"/>
                <a:cs typeface="Montserrat"/>
                <a:sym typeface="Montserrat"/>
              </a:rPr>
              <a:t> даны подсказки по заполнению. После заполнения удалите их</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В презентации есть слайды и текст под звездочкой (*) — </a:t>
            </a:r>
            <a:br>
              <a:rPr lang="ru" sz="1500">
                <a:solidFill>
                  <a:schemeClr val="dk1"/>
                </a:solidFill>
                <a:latin typeface="Montserrat"/>
                <a:ea typeface="Montserrat"/>
                <a:cs typeface="Montserrat"/>
                <a:sym typeface="Montserrat"/>
              </a:rPr>
            </a:br>
            <a:r>
              <a:rPr lang="ru" sz="1500">
                <a:solidFill>
                  <a:schemeClr val="dk1"/>
                </a:solidFill>
                <a:latin typeface="Montserrat"/>
                <a:ea typeface="Montserrat"/>
                <a:cs typeface="Montserrat"/>
                <a:sym typeface="Montserrat"/>
              </a:rPr>
              <a:t>они опциональны, заполняйте их только если считаете нужным</a:t>
            </a:r>
            <a:endParaRPr sz="1500">
              <a:solidFill>
                <a:schemeClr val="dk1"/>
              </a:solidFill>
              <a:latin typeface="Montserrat"/>
              <a:ea typeface="Montserrat"/>
              <a:cs typeface="Montserrat"/>
              <a:sym typeface="Montserrat"/>
            </a:endParaRPr>
          </a:p>
          <a:p>
            <a:pPr indent="-165100" lvl="0" marL="165100" rtl="0" algn="l">
              <a:lnSpc>
                <a:spcPct val="115000"/>
              </a:lnSpc>
              <a:spcBef>
                <a:spcPts val="1000"/>
              </a:spcBef>
              <a:spcAft>
                <a:spcPts val="1000"/>
              </a:spcAft>
              <a:buClr>
                <a:schemeClr val="dk1"/>
              </a:buClr>
              <a:buSzPts val="1500"/>
              <a:buFont typeface="Montserrat"/>
              <a:buAutoNum type="arabicPeriod"/>
            </a:pPr>
            <a:r>
              <a:rPr lang="ru" sz="1500">
                <a:solidFill>
                  <a:schemeClr val="dk1"/>
                </a:solidFill>
                <a:latin typeface="Montserrat"/>
                <a:ea typeface="Montserrat"/>
                <a:cs typeface="Montserrat"/>
                <a:sym typeface="Montserrat"/>
              </a:rPr>
              <a:t>Вы можете менять дизайн слайдов, не упуская смысловые аспекты: добавлять графики, изображения, текст. Помните, что слайд должен считываться слушателями достаточно быстро</a:t>
            </a:r>
            <a:endParaRPr sz="1500">
              <a:solidFill>
                <a:schemeClr val="dk1"/>
              </a:solidFill>
              <a:latin typeface="Montserrat"/>
              <a:ea typeface="Montserrat"/>
              <a:cs typeface="Montserrat"/>
              <a:sym typeface="Montserrat"/>
            </a:endParaRPr>
          </a:p>
        </p:txBody>
      </p:sp>
      <p:sp>
        <p:nvSpPr>
          <p:cNvPr id="59" name="Google Shape;59;p1"/>
          <p:cNvSpPr txBox="1"/>
          <p:nvPr>
            <p:ph type="title"/>
          </p:nvPr>
        </p:nvSpPr>
        <p:spPr>
          <a:xfrm>
            <a:off x="397200" y="282028"/>
            <a:ext cx="8400000" cy="697500"/>
          </a:xfrm>
          <a:prstGeom prst="rect">
            <a:avLst/>
          </a:prstGeom>
          <a:noFill/>
          <a:ln>
            <a:noFill/>
          </a:ln>
        </p:spPr>
        <p:txBody>
          <a:bodyPr anchorCtr="0" anchor="t" bIns="33375" lIns="33375" spcFirstLastPara="1" rIns="33375" wrap="square" tIns="33375">
            <a:noAutofit/>
          </a:bodyPr>
          <a:lstStyle/>
          <a:p>
            <a:pPr indent="0" lvl="0" marL="0" rtl="0" algn="l">
              <a:lnSpc>
                <a:spcPct val="100000"/>
              </a:lnSpc>
              <a:spcBef>
                <a:spcPts val="0"/>
              </a:spcBef>
              <a:spcAft>
                <a:spcPts val="0"/>
              </a:spcAft>
              <a:buSzPts val="3100"/>
              <a:buNone/>
            </a:pPr>
            <a:r>
              <a:rPr lang="ru" sz="2800">
                <a:solidFill>
                  <a:srgbClr val="123194"/>
                </a:solidFill>
                <a:latin typeface="Montserrat"/>
                <a:ea typeface="Montserrat"/>
                <a:cs typeface="Montserrat"/>
                <a:sym typeface="Montserrat"/>
              </a:rPr>
              <a:t>Инструкция по работе с шаблоном</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 name="Google Shape;65;p2"/>
          <p:cNvPicPr preferRelativeResize="0"/>
          <p:nvPr/>
        </p:nvPicPr>
        <p:blipFill rotWithShape="1">
          <a:blip r:embed="rId3">
            <a:alphaModFix/>
          </a:blip>
          <a:srcRect b="0" l="0" r="0" t="0"/>
          <a:stretch/>
        </p:blipFill>
        <p:spPr>
          <a:xfrm>
            <a:off x="7729623" y="156412"/>
            <a:ext cx="847909" cy="415398"/>
          </a:xfrm>
          <a:prstGeom prst="rect">
            <a:avLst/>
          </a:prstGeom>
          <a:noFill/>
          <a:ln>
            <a:noFill/>
          </a:ln>
        </p:spPr>
      </p:pic>
      <p:sp>
        <p:nvSpPr>
          <p:cNvPr id="66" name="Google Shape;66;p2"/>
          <p:cNvSpPr txBox="1"/>
          <p:nvPr/>
        </p:nvSpPr>
        <p:spPr>
          <a:xfrm>
            <a:off x="315779" y="380733"/>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Название </a:t>
            </a:r>
            <a:endParaRPr b="1" i="0" sz="5700" u="none" cap="none" strike="noStrike">
              <a:solidFill>
                <a:schemeClr val="lt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стартапа</a:t>
            </a:r>
            <a:endParaRPr b="1" i="0" sz="5700" u="none" cap="none" strike="noStrike">
              <a:solidFill>
                <a:schemeClr val="lt1"/>
              </a:solidFill>
              <a:latin typeface="Montserrat"/>
              <a:ea typeface="Montserrat"/>
              <a:cs typeface="Montserrat"/>
              <a:sym typeface="Montserrat"/>
            </a:endParaRPr>
          </a:p>
        </p:txBody>
      </p:sp>
      <p:sp>
        <p:nvSpPr>
          <p:cNvPr id="67" name="Google Shape;67;p2"/>
          <p:cNvSpPr txBox="1"/>
          <p:nvPr/>
        </p:nvSpPr>
        <p:spPr>
          <a:xfrm>
            <a:off x="315774" y="3373825"/>
            <a:ext cx="8541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ru" sz="2000" u="none" cap="none" strike="noStrike">
                <a:solidFill>
                  <a:schemeClr val="lt1"/>
                </a:solidFill>
                <a:latin typeface="Montserrat"/>
                <a:ea typeface="Montserrat"/>
                <a:cs typeface="Montserrat"/>
                <a:sym typeface="Montserrat"/>
              </a:rPr>
              <a:t>Названия магистерских программ обучающихся</a:t>
            </a:r>
            <a:endParaRPr b="0" i="0" sz="2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459853" y="1152350"/>
            <a:ext cx="2513700" cy="23064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txBox="1"/>
          <p:nvPr/>
        </p:nvSpPr>
        <p:spPr>
          <a:xfrm>
            <a:off x="719019" y="2032409"/>
            <a:ext cx="1995300" cy="29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Изображение</a:t>
            </a:r>
            <a:endParaRPr b="0" i="0" sz="1800" u="none" cap="none" strike="noStrike">
              <a:solidFill>
                <a:schemeClr val="dk1"/>
              </a:solidFill>
              <a:latin typeface="Montserrat"/>
              <a:ea typeface="Montserrat"/>
              <a:cs typeface="Montserrat"/>
              <a:sym typeface="Montserrat"/>
            </a:endParaRPr>
          </a:p>
        </p:txBody>
      </p:sp>
      <p:sp>
        <p:nvSpPr>
          <p:cNvPr id="74" name="Google Shape;74;p3"/>
          <p:cNvSpPr/>
          <p:nvPr/>
        </p:nvSpPr>
        <p:spPr>
          <a:xfrm>
            <a:off x="3313640" y="1152350"/>
            <a:ext cx="2513700" cy="23064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txBox="1"/>
          <p:nvPr/>
        </p:nvSpPr>
        <p:spPr>
          <a:xfrm>
            <a:off x="3572806" y="2032409"/>
            <a:ext cx="1995300" cy="29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Изображение</a:t>
            </a:r>
            <a:endParaRPr b="0" i="0" sz="1800" u="none" cap="none" strike="noStrike">
              <a:solidFill>
                <a:schemeClr val="dk1"/>
              </a:solidFill>
              <a:latin typeface="Montserrat"/>
              <a:ea typeface="Montserrat"/>
              <a:cs typeface="Montserrat"/>
              <a:sym typeface="Montserrat"/>
            </a:endParaRPr>
          </a:p>
        </p:txBody>
      </p:sp>
      <p:sp>
        <p:nvSpPr>
          <p:cNvPr id="76" name="Google Shape;76;p3"/>
          <p:cNvSpPr txBox="1"/>
          <p:nvPr/>
        </p:nvSpPr>
        <p:spPr>
          <a:xfrm>
            <a:off x="383650" y="3638025"/>
            <a:ext cx="25137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 лидер проекта</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Зона ответственности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и пул выполняемых будущих задач</a:t>
            </a:r>
            <a:endParaRPr b="0" i="0" sz="1200" u="none" cap="none" strike="noStrike">
              <a:solidFill>
                <a:schemeClr val="dk1"/>
              </a:solidFill>
              <a:latin typeface="Montserrat"/>
              <a:ea typeface="Montserrat"/>
              <a:cs typeface="Montserrat"/>
              <a:sym typeface="Montserrat"/>
            </a:endParaRPr>
          </a:p>
        </p:txBody>
      </p:sp>
      <p:sp>
        <p:nvSpPr>
          <p:cNvPr id="77" name="Google Shape;77;p3"/>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Команда проекта</a:t>
            </a:r>
            <a:endParaRPr b="1" i="0" sz="2800" u="none" cap="none" strike="noStrike">
              <a:solidFill>
                <a:srgbClr val="123194"/>
              </a:solidFill>
              <a:latin typeface="Montserrat"/>
              <a:ea typeface="Montserrat"/>
              <a:cs typeface="Montserrat"/>
              <a:sym typeface="Montserrat"/>
            </a:endParaRPr>
          </a:p>
        </p:txBody>
      </p:sp>
      <p:sp>
        <p:nvSpPr>
          <p:cNvPr id="78" name="Google Shape;78;p3"/>
          <p:cNvSpPr/>
          <p:nvPr/>
        </p:nvSpPr>
        <p:spPr>
          <a:xfrm>
            <a:off x="6167440" y="1152350"/>
            <a:ext cx="2513700" cy="23064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
          <p:cNvSpPr txBox="1"/>
          <p:nvPr/>
        </p:nvSpPr>
        <p:spPr>
          <a:xfrm>
            <a:off x="6426606" y="2032409"/>
            <a:ext cx="1995300" cy="29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Изображение</a:t>
            </a:r>
            <a:endParaRPr b="0" i="0" sz="1800" u="none" cap="none" strike="noStrike">
              <a:solidFill>
                <a:schemeClr val="dk1"/>
              </a:solidFill>
              <a:latin typeface="Montserrat"/>
              <a:ea typeface="Montserrat"/>
              <a:cs typeface="Montserrat"/>
              <a:sym typeface="Montserrat"/>
            </a:endParaRPr>
          </a:p>
        </p:txBody>
      </p:sp>
      <p:sp>
        <p:nvSpPr>
          <p:cNvPr id="80" name="Google Shape;80;p3"/>
          <p:cNvSpPr txBox="1"/>
          <p:nvPr/>
        </p:nvSpPr>
        <p:spPr>
          <a:xfrm>
            <a:off x="3237449" y="3615200"/>
            <a:ext cx="25137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Зона ответственности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и пул выполняемых будущих задач</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81" name="Google Shape;81;p3"/>
          <p:cNvSpPr txBox="1"/>
          <p:nvPr/>
        </p:nvSpPr>
        <p:spPr>
          <a:xfrm>
            <a:off x="6091249" y="3615200"/>
            <a:ext cx="25137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a:t>
            </a:r>
            <a:endParaRPr b="1"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Зона ответственности </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и пул выполняемых будущих задач</a:t>
            </a:r>
            <a:endParaRPr b="0" i="0"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82" name="Google Shape;82;p3"/>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4"/>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88" name="Google Shape;88;p4"/>
          <p:cNvSpPr txBox="1"/>
          <p:nvPr/>
        </p:nvSpPr>
        <p:spPr>
          <a:xfrm>
            <a:off x="321325" y="268500"/>
            <a:ext cx="8218800" cy="794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Проблема</a:t>
            </a:r>
            <a:endParaRPr b="1" i="0" sz="2800" u="none" cap="none" strike="noStrike">
              <a:solidFill>
                <a:srgbClr val="123194"/>
              </a:solidFill>
              <a:latin typeface="Montserrat"/>
              <a:ea typeface="Montserrat"/>
              <a:cs typeface="Montserrat"/>
              <a:sym typeface="Montserrat"/>
            </a:endParaRPr>
          </a:p>
        </p:txBody>
      </p:sp>
      <p:sp>
        <p:nvSpPr>
          <p:cNvPr id="89" name="Google Shape;89;p4"/>
          <p:cNvSpPr txBox="1"/>
          <p:nvPr/>
        </p:nvSpPr>
        <p:spPr>
          <a:xfrm>
            <a:off x="416100" y="1038750"/>
            <a:ext cx="8167800" cy="2625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Для этого слайда используйте информацию из Паспорта: </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1000"/>
              </a:spcBef>
              <a:spcAft>
                <a:spcPts val="0"/>
              </a:spcAft>
              <a:buClr>
                <a:srgbClr val="980000"/>
              </a:buClr>
              <a:buSzPts val="1200"/>
              <a:buFont typeface="Montserrat"/>
              <a:buChar char="●"/>
            </a:pPr>
            <a:r>
              <a:rPr b="0" i="1" lang="ru" sz="1200" u="none" cap="none" strike="noStrike">
                <a:solidFill>
                  <a:srgbClr val="980000"/>
                </a:solidFill>
                <a:latin typeface="Montserrat"/>
                <a:ea typeface="Montserrat"/>
                <a:cs typeface="Montserrat"/>
                <a:sym typeface="Montserrat"/>
              </a:rPr>
              <a:t>Лист «3. Конкурентный анализ», блок «Шаг 8. Финальная гипотеза продукта и УТП»</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1000"/>
              </a:spcBef>
              <a:spcAft>
                <a:spcPts val="0"/>
              </a:spcAft>
              <a:buClr>
                <a:srgbClr val="980000"/>
              </a:buClr>
              <a:buSzPts val="1200"/>
              <a:buFont typeface="Montserrat"/>
              <a:buChar char="●"/>
            </a:pPr>
            <a:r>
              <a:rPr b="0" i="1" lang="ru" sz="1200" u="none" cap="none" strike="noStrike">
                <a:solidFill>
                  <a:srgbClr val="980000"/>
                </a:solidFill>
                <a:latin typeface="Montserrat"/>
                <a:ea typeface="Montserrat"/>
                <a:cs typeface="Montserrat"/>
                <a:sym typeface="Montserrat"/>
              </a:rPr>
              <a:t>Лист «1. Описание продукта (бриф)»</a:t>
            </a:r>
            <a:endParaRPr b="0" i="1" sz="1200" u="none" cap="none" strike="noStrike">
              <a:solidFill>
                <a:srgbClr val="980000"/>
              </a:solidFill>
              <a:latin typeface="Montserrat"/>
              <a:ea typeface="Montserrat"/>
              <a:cs typeface="Montserrat"/>
              <a:sym typeface="Montserrat"/>
            </a:endParaRPr>
          </a:p>
          <a:p>
            <a:pPr indent="0" lvl="0" marL="0" rtl="0" algn="l">
              <a:lnSpc>
                <a:spcPct val="115000"/>
              </a:lnSpc>
              <a:spcBef>
                <a:spcPts val="1000"/>
              </a:spcBef>
              <a:spcAft>
                <a:spcPts val="0"/>
              </a:spcAft>
              <a:buNone/>
            </a:pPr>
            <a:r>
              <a:rPr lang="ru" sz="1200">
                <a:solidFill>
                  <a:srgbClr val="980000"/>
                </a:solidFill>
                <a:latin typeface="Montserrat"/>
                <a:ea typeface="Montserrat"/>
                <a:cs typeface="Montserrat"/>
                <a:sym typeface="Montserrat"/>
              </a:rPr>
              <a:t>Опишите </a:t>
            </a:r>
            <a:r>
              <a:rPr b="1" lang="ru" sz="1200">
                <a:solidFill>
                  <a:srgbClr val="980000"/>
                </a:solidFill>
                <a:latin typeface="Montserrat"/>
                <a:ea typeface="Montserrat"/>
                <a:cs typeface="Montserrat"/>
                <a:sym typeface="Montserrat"/>
              </a:rPr>
              <a:t>ключевую проблему</a:t>
            </a:r>
            <a:r>
              <a:rPr lang="ru" sz="1200">
                <a:solidFill>
                  <a:srgbClr val="980000"/>
                </a:solidFill>
                <a:latin typeface="Montserrat"/>
                <a:ea typeface="Montserrat"/>
                <a:cs typeface="Montserrat"/>
                <a:sym typeface="Montserrat"/>
              </a:rPr>
              <a:t> — в одном предложении сформулируйте боль потребителя, </a:t>
            </a:r>
            <a:br>
              <a:rPr lang="ru" sz="1200">
                <a:solidFill>
                  <a:srgbClr val="980000"/>
                </a:solidFill>
                <a:latin typeface="Montserrat"/>
                <a:ea typeface="Montserrat"/>
                <a:cs typeface="Montserrat"/>
                <a:sym typeface="Montserrat"/>
              </a:rPr>
            </a:br>
            <a:r>
              <a:rPr lang="ru" sz="1200">
                <a:solidFill>
                  <a:srgbClr val="980000"/>
                </a:solidFill>
                <a:latin typeface="Montserrat"/>
                <a:ea typeface="Montserrat"/>
                <a:cs typeface="Montserrat"/>
                <a:sym typeface="Montserrat"/>
              </a:rPr>
              <a:t>на которую направлено ваше ключевое преимущество/новизна/инновационность. </a:t>
            </a:r>
            <a:endParaRPr sz="1200">
              <a:solidFill>
                <a:srgbClr val="980000"/>
              </a:solidFill>
              <a:latin typeface="Montserrat"/>
              <a:ea typeface="Montserrat"/>
              <a:cs typeface="Montserrat"/>
              <a:sym typeface="Montserrat"/>
            </a:endParaRPr>
          </a:p>
          <a:p>
            <a:pPr indent="0" lvl="0" marL="0" rtl="0" algn="l">
              <a:lnSpc>
                <a:spcPct val="115000"/>
              </a:lnSpc>
              <a:spcBef>
                <a:spcPts val="1000"/>
              </a:spcBef>
              <a:spcAft>
                <a:spcPts val="0"/>
              </a:spcAft>
              <a:buNone/>
            </a:pPr>
            <a:r>
              <a:rPr lang="ru" sz="1200">
                <a:solidFill>
                  <a:srgbClr val="980000"/>
                </a:solidFill>
                <a:latin typeface="Montserrat"/>
                <a:ea typeface="Montserrat"/>
                <a:cs typeface="Montserrat"/>
                <a:sym typeface="Montserrat"/>
              </a:rPr>
              <a:t>Декомпозируйте проблему на 2–3 пункта: ответьте на вопрос «Почему?»  </a:t>
            </a:r>
            <a:endParaRPr sz="1200">
              <a:solidFill>
                <a:srgbClr val="980000"/>
              </a:solidFill>
              <a:latin typeface="Montserrat"/>
              <a:ea typeface="Montserrat"/>
              <a:cs typeface="Montserrat"/>
              <a:sym typeface="Montserrat"/>
            </a:endParaRPr>
          </a:p>
          <a:p>
            <a:pPr indent="0" lvl="0" marL="0" rtl="0" algn="l">
              <a:lnSpc>
                <a:spcPct val="115000"/>
              </a:lnSpc>
              <a:spcBef>
                <a:spcPts val="1000"/>
              </a:spcBef>
              <a:spcAft>
                <a:spcPts val="0"/>
              </a:spcAft>
              <a:buNone/>
            </a:pPr>
            <a:r>
              <a:rPr lang="ru" sz="1200">
                <a:solidFill>
                  <a:srgbClr val="980000"/>
                </a:solidFill>
                <a:latin typeface="Montserrat"/>
                <a:ea typeface="Montserrat"/>
                <a:cs typeface="Montserrat"/>
                <a:sym typeface="Montserrat"/>
              </a:rPr>
              <a:t>Как эту проблему </a:t>
            </a:r>
            <a:r>
              <a:rPr b="1" lang="ru" sz="1200">
                <a:solidFill>
                  <a:srgbClr val="980000"/>
                </a:solidFill>
                <a:latin typeface="Montserrat"/>
                <a:ea typeface="Montserrat"/>
                <a:cs typeface="Montserrat"/>
                <a:sym typeface="Montserrat"/>
              </a:rPr>
              <a:t>решают сегодня</a:t>
            </a:r>
            <a:r>
              <a:rPr lang="ru" sz="1200">
                <a:solidFill>
                  <a:srgbClr val="980000"/>
                </a:solidFill>
                <a:latin typeface="Montserrat"/>
                <a:ea typeface="Montserrat"/>
                <a:cs typeface="Montserrat"/>
                <a:sym typeface="Montserrat"/>
              </a:rPr>
              <a:t>?</a:t>
            </a:r>
            <a:endParaRPr sz="1200">
              <a:solidFill>
                <a:srgbClr val="980000"/>
              </a:solidFill>
              <a:latin typeface="Montserrat"/>
              <a:ea typeface="Montserrat"/>
              <a:cs typeface="Montserrat"/>
              <a:sym typeface="Montserrat"/>
            </a:endParaRPr>
          </a:p>
          <a:p>
            <a:pPr indent="0" lvl="0" marL="0" rtl="0" algn="l">
              <a:lnSpc>
                <a:spcPct val="115000"/>
              </a:lnSpc>
              <a:spcBef>
                <a:spcPts val="1000"/>
              </a:spcBef>
              <a:spcAft>
                <a:spcPts val="1000"/>
              </a:spcAft>
              <a:buNone/>
            </a:pPr>
            <a:r>
              <a:rPr lang="ru" sz="1200">
                <a:solidFill>
                  <a:srgbClr val="980000"/>
                </a:solidFill>
                <a:latin typeface="Montserrat"/>
                <a:ea typeface="Montserrat"/>
                <a:cs typeface="Montserrat"/>
                <a:sym typeface="Montserrat"/>
              </a:rPr>
              <a:t>И какие </a:t>
            </a:r>
            <a:r>
              <a:rPr b="1" lang="ru" sz="1200">
                <a:solidFill>
                  <a:srgbClr val="980000"/>
                </a:solidFill>
                <a:latin typeface="Montserrat"/>
                <a:ea typeface="Montserrat"/>
                <a:cs typeface="Montserrat"/>
                <a:sym typeface="Montserrat"/>
              </a:rPr>
              <a:t>минусы </a:t>
            </a:r>
            <a:r>
              <a:rPr lang="ru" sz="1200">
                <a:solidFill>
                  <a:srgbClr val="980000"/>
                </a:solidFill>
                <a:latin typeface="Montserrat"/>
                <a:ea typeface="Montserrat"/>
                <a:cs typeface="Montserrat"/>
                <a:sym typeface="Montserrat"/>
              </a:rPr>
              <a:t>есть у этих решений?</a:t>
            </a:r>
            <a:endParaRPr b="0" i="1" sz="1200" u="none" cap="none" strike="noStrike">
              <a:solidFill>
                <a:srgbClr val="980000"/>
              </a:solidFill>
              <a:latin typeface="Montserrat"/>
              <a:ea typeface="Montserrat"/>
              <a:cs typeface="Montserrat"/>
              <a:sym typeface="Montserrat"/>
            </a:endParaRPr>
          </a:p>
        </p:txBody>
      </p:sp>
      <p:sp>
        <p:nvSpPr>
          <p:cNvPr id="90" name="Google Shape;90;p4"/>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g3b37f0c53b1_0_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96" name="Google Shape;96;g3b37f0c53b1_0_0"/>
          <p:cNvSpPr txBox="1"/>
          <p:nvPr/>
        </p:nvSpPr>
        <p:spPr>
          <a:xfrm>
            <a:off x="321325" y="268500"/>
            <a:ext cx="8218800" cy="794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Острота проблемы: теоретический анализ</a:t>
            </a:r>
            <a:endParaRPr b="1" i="0" sz="2800" u="none" cap="none" strike="noStrike">
              <a:solidFill>
                <a:srgbClr val="123194"/>
              </a:solidFill>
              <a:latin typeface="Montserrat"/>
              <a:ea typeface="Montserrat"/>
              <a:cs typeface="Montserrat"/>
              <a:sym typeface="Montserrat"/>
            </a:endParaRPr>
          </a:p>
        </p:txBody>
      </p:sp>
      <p:pic>
        <p:nvPicPr>
          <p:cNvPr id="97" name="Google Shape;97;g3b37f0c53b1_0_0"/>
          <p:cNvPicPr preferRelativeResize="0"/>
          <p:nvPr/>
        </p:nvPicPr>
        <p:blipFill rotWithShape="1">
          <a:blip r:embed="rId4">
            <a:alphaModFix/>
          </a:blip>
          <a:srcRect b="0" l="0" r="0" t="0"/>
          <a:stretch/>
        </p:blipFill>
        <p:spPr>
          <a:xfrm>
            <a:off x="5960421" y="2866600"/>
            <a:ext cx="2397204" cy="415400"/>
          </a:xfrm>
          <a:prstGeom prst="rect">
            <a:avLst/>
          </a:prstGeom>
          <a:noFill/>
          <a:ln>
            <a:noFill/>
          </a:ln>
        </p:spPr>
      </p:pic>
      <p:sp>
        <p:nvSpPr>
          <p:cNvPr id="98" name="Google Shape;98;g3b37f0c53b1_0_0"/>
          <p:cNvSpPr txBox="1"/>
          <p:nvPr/>
        </p:nvSpPr>
        <p:spPr>
          <a:xfrm>
            <a:off x="321325" y="1619450"/>
            <a:ext cx="5174100" cy="290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Clr>
                <a:schemeClr val="dk1"/>
              </a:buClr>
              <a:buSzPts val="1200"/>
              <a:buFont typeface="Arial"/>
              <a:buNone/>
            </a:pPr>
            <a:r>
              <a:rPr lang="ru" sz="1200">
                <a:solidFill>
                  <a:srgbClr val="980000"/>
                </a:solidFill>
                <a:latin typeface="Montserrat"/>
                <a:ea typeface="Montserrat"/>
                <a:cs typeface="Montserrat"/>
                <a:sym typeface="Montserrat"/>
              </a:rPr>
              <a:t>Ответьте на вопрос, какие дополнительные негативные факторы подтверждают боль? Почему проблема актуальна? Представьте в цифрах и со ссылками на источники.</a:t>
            </a:r>
            <a:endParaRPr sz="1200">
              <a:solidFill>
                <a:srgbClr val="980000"/>
              </a:solidFill>
              <a:latin typeface="Montserrat"/>
              <a:ea typeface="Montserrat"/>
              <a:cs typeface="Montserrat"/>
              <a:sym typeface="Montserrat"/>
            </a:endParaRPr>
          </a:p>
          <a:p>
            <a:pPr indent="0" lvl="0" marL="0" rtl="0" algn="l">
              <a:lnSpc>
                <a:spcPct val="115000"/>
              </a:lnSpc>
              <a:spcBef>
                <a:spcPts val="500"/>
              </a:spcBef>
              <a:spcAft>
                <a:spcPts val="0"/>
              </a:spcAft>
              <a:buClr>
                <a:schemeClr val="dk1"/>
              </a:buClr>
              <a:buSzPts val="1200"/>
              <a:buFont typeface="Arial"/>
              <a:buNone/>
            </a:pPr>
            <a:r>
              <a:t/>
            </a:r>
            <a:endParaRPr sz="1200">
              <a:solidFill>
                <a:srgbClr val="980000"/>
              </a:solidFill>
              <a:latin typeface="Montserrat"/>
              <a:ea typeface="Montserrat"/>
              <a:cs typeface="Montserrat"/>
              <a:sym typeface="Montserrat"/>
            </a:endParaRPr>
          </a:p>
          <a:p>
            <a:pPr indent="0" lvl="0" marL="0" marR="0" rtl="0" algn="l">
              <a:lnSpc>
                <a:spcPct val="115000"/>
              </a:lnSpc>
              <a:spcBef>
                <a:spcPts val="500"/>
              </a:spcBef>
              <a:spcAft>
                <a:spcPts val="0"/>
              </a:spcAft>
              <a:buClr>
                <a:srgbClr val="000000"/>
              </a:buClr>
              <a:buSzPts val="1200"/>
              <a:buFont typeface="Arial"/>
              <a:buNone/>
            </a:pPr>
            <a:r>
              <a:rPr lang="ru" sz="1200">
                <a:solidFill>
                  <a:srgbClr val="980000"/>
                </a:solidFill>
                <a:latin typeface="Montserrat"/>
                <a:ea typeface="Montserrat"/>
                <a:cs typeface="Montserrat"/>
                <a:sym typeface="Montserrat"/>
              </a:rPr>
              <a:t>Для этого и</a:t>
            </a:r>
            <a:r>
              <a:rPr b="0" i="0" lang="ru" sz="1200" cap="none" strike="noStrike">
                <a:solidFill>
                  <a:srgbClr val="980000"/>
                </a:solidFill>
                <a:latin typeface="Montserrat"/>
                <a:ea typeface="Montserrat"/>
                <a:cs typeface="Montserrat"/>
                <a:sym typeface="Montserrat"/>
              </a:rPr>
              <a:t>сследуйте проблему в научной литературе, отраслевых исследованиях, публикациях в верифицированных источниках. Найдите подтверждения ее в открытых источниках, в том числе цифры и выводы. Желательно минимум 5–7 источников по проблеме. </a:t>
            </a:r>
            <a:endParaRPr b="0" i="0" sz="1200" cap="none" strike="noStrike">
              <a:solidFill>
                <a:srgbClr val="980000"/>
              </a:solidFill>
              <a:latin typeface="Montserrat"/>
              <a:ea typeface="Montserrat"/>
              <a:cs typeface="Montserrat"/>
              <a:sym typeface="Montserrat"/>
            </a:endParaRPr>
          </a:p>
          <a:p>
            <a:pPr indent="0" lvl="0" marL="0" marR="0" rtl="0" algn="l">
              <a:lnSpc>
                <a:spcPct val="115000"/>
              </a:lnSpc>
              <a:spcBef>
                <a:spcPts val="500"/>
              </a:spcBef>
              <a:spcAft>
                <a:spcPts val="0"/>
              </a:spcAft>
              <a:buClr>
                <a:srgbClr val="000000"/>
              </a:buClr>
              <a:buSzPts val="1200"/>
              <a:buFont typeface="Arial"/>
              <a:buNone/>
            </a:pPr>
            <a:r>
              <a:t/>
            </a:r>
            <a:endParaRPr b="0" i="0"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500"/>
              </a:spcBef>
              <a:spcAft>
                <a:spcPts val="0"/>
              </a:spcAft>
              <a:buClr>
                <a:srgbClr val="000000"/>
              </a:buClr>
              <a:buSzPts val="1200"/>
              <a:buFont typeface="Arial"/>
              <a:buNone/>
            </a:pPr>
            <a:r>
              <a:t/>
            </a:r>
            <a:endParaRPr b="0" i="0"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500"/>
              </a:spcBef>
              <a:spcAft>
                <a:spcPts val="0"/>
              </a:spcAft>
              <a:buClr>
                <a:srgbClr val="000000"/>
              </a:buClr>
              <a:buSzPts val="1200"/>
              <a:buFont typeface="Arial"/>
              <a:buNone/>
            </a:pPr>
            <a:r>
              <a:t/>
            </a:r>
            <a:endParaRPr b="0" i="0" sz="1200" u="none" cap="none" strike="noStrike">
              <a:solidFill>
                <a:srgbClr val="980000"/>
              </a:solidFill>
              <a:latin typeface="Montserrat"/>
              <a:ea typeface="Montserrat"/>
              <a:cs typeface="Montserrat"/>
              <a:sym typeface="Montserrat"/>
            </a:endParaRPr>
          </a:p>
        </p:txBody>
      </p:sp>
      <p:sp>
        <p:nvSpPr>
          <p:cNvPr id="99" name="Google Shape;99;g3b37f0c53b1_0_0"/>
          <p:cNvSpPr txBox="1"/>
          <p:nvPr/>
        </p:nvSpPr>
        <p:spPr>
          <a:xfrm>
            <a:off x="5871640" y="3282723"/>
            <a:ext cx="3040200" cy="134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ru" sz="1200" u="none" cap="none" strike="noStrike">
                <a:solidFill>
                  <a:srgbClr val="980000"/>
                </a:solidFill>
                <a:latin typeface="Montserrat"/>
                <a:ea typeface="Montserrat"/>
                <a:cs typeface="Montserrat"/>
                <a:sym typeface="Montserrat"/>
              </a:rPr>
              <a:t>Как считали</a:t>
            </a:r>
            <a:r>
              <a:rPr b="1" lang="ru" sz="1200">
                <a:solidFill>
                  <a:srgbClr val="980000"/>
                </a:solidFill>
                <a:latin typeface="Montserrat"/>
                <a:ea typeface="Montserrat"/>
                <a:cs typeface="Montserrat"/>
                <a:sym typeface="Montserrat"/>
              </a:rPr>
              <a:t> — </a:t>
            </a:r>
            <a:r>
              <a:rPr b="1" lang="ru" sz="1200">
                <a:solidFill>
                  <a:srgbClr val="980000"/>
                </a:solidFill>
                <a:latin typeface="Montserrat"/>
                <a:ea typeface="Montserrat"/>
                <a:cs typeface="Montserrat"/>
                <a:sym typeface="Montserrat"/>
                <a:extLst>
                  <a:ext uri="http://customooxmlschemas.google.com/">
                    <go:slidesCustomData xmlns:go="http://customooxmlschemas.google.com/" textRoundtripDataId="0"/>
                  </a:ext>
                </a:extLst>
              </a:rPr>
              <a:t>можно удалить со слайда питч-дека 2 семестра</a:t>
            </a:r>
            <a:endParaRPr b="1" i="0" sz="1200" u="none" cap="none" strike="noStrike">
              <a:solidFill>
                <a:srgbClr val="980000"/>
              </a:solidFill>
              <a:latin typeface="Montserrat"/>
              <a:ea typeface="Montserrat"/>
              <a:cs typeface="Montserrat"/>
              <a:sym typeface="Montserrat"/>
            </a:endParaRPr>
          </a:p>
        </p:txBody>
      </p:sp>
      <p:graphicFrame>
        <p:nvGraphicFramePr>
          <p:cNvPr id="100" name="Google Shape;100;g3b37f0c53b1_0_0"/>
          <p:cNvGraphicFramePr/>
          <p:nvPr/>
        </p:nvGraphicFramePr>
        <p:xfrm>
          <a:off x="5960425" y="1864700"/>
          <a:ext cx="3000000" cy="3000000"/>
        </p:xfrm>
        <a:graphic>
          <a:graphicData uri="http://schemas.openxmlformats.org/drawingml/2006/table">
            <a:tbl>
              <a:tblPr>
                <a:noFill/>
                <a:tableStyleId>{FFC42287-9CCA-4F47-93BB-E4E9780593B4}</a:tableStyleId>
              </a:tblPr>
              <a:tblGrid>
                <a:gridCol w="2691325"/>
              </a:tblGrid>
              <a:tr h="1120225">
                <a:tc>
                  <a:txBody>
                    <a:bodyPr/>
                    <a:lstStyle/>
                    <a:p>
                      <a:pPr indent="0" lvl="0" marL="0" marR="0" rtl="0" algn="l">
                        <a:lnSpc>
                          <a:spcPct val="100000"/>
                        </a:lnSpc>
                        <a:spcBef>
                          <a:spcPts val="0"/>
                        </a:spcBef>
                        <a:spcAft>
                          <a:spcPts val="0"/>
                        </a:spcAft>
                        <a:buClr>
                          <a:srgbClr val="000000"/>
                        </a:buClr>
                        <a:buSzPts val="6000"/>
                        <a:buFont typeface="Arial"/>
                        <a:buNone/>
                      </a:pPr>
                      <a:r>
                        <a:rPr lang="ru" sz="6000" u="none" cap="none" strike="noStrike">
                          <a:solidFill>
                            <a:schemeClr val="lt1"/>
                          </a:solidFill>
                          <a:latin typeface="Montserrat"/>
                          <a:ea typeface="Montserrat"/>
                          <a:cs typeface="Montserrat"/>
                          <a:sym typeface="Montserrat"/>
                        </a:rPr>
                        <a:t>00</a:t>
                      </a:r>
                      <a:r>
                        <a:rPr lang="ru" sz="1400" u="none" cap="none" strike="noStrike">
                          <a:solidFill>
                            <a:schemeClr val="lt1"/>
                          </a:solidFill>
                          <a:latin typeface="Montserrat"/>
                          <a:ea typeface="Montserrat"/>
                          <a:cs typeface="Montserrat"/>
                          <a:sym typeface="Montserrat"/>
                        </a:rPr>
                        <a:t> </a:t>
                      </a:r>
                      <a:br>
                        <a:rPr lang="ru" sz="1400" u="none" cap="none" strike="noStrike">
                          <a:solidFill>
                            <a:schemeClr val="lt1"/>
                          </a:solidFill>
                          <a:latin typeface="Montserrat"/>
                          <a:ea typeface="Montserrat"/>
                          <a:cs typeface="Montserrat"/>
                          <a:sym typeface="Montserrat"/>
                        </a:rPr>
                      </a:br>
                      <a:r>
                        <a:rPr lang="ru" sz="1400" u="none" cap="none" strike="noStrike">
                          <a:solidFill>
                            <a:schemeClr val="lt1"/>
                          </a:solidFill>
                          <a:latin typeface="Montserrat"/>
                          <a:ea typeface="Montserrat"/>
                          <a:cs typeface="Montserrat"/>
                          <a:sym typeface="Montserrat"/>
                        </a:rPr>
                        <a:t>млн / часов / рублей</a:t>
                      </a:r>
                      <a:endParaRPr sz="1400" u="none" cap="none" strike="noStrike">
                        <a:solidFill>
                          <a:schemeClr val="lt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solidFill>
                      <a:srgbClr val="123194"/>
                    </a:solidFill>
                  </a:tcPr>
                </a:tc>
              </a:tr>
            </a:tbl>
          </a:graphicData>
        </a:graphic>
      </p:graphicFrame>
      <p:sp>
        <p:nvSpPr>
          <p:cNvPr id="101" name="Google Shape;101;g3b37f0c53b1_0_0"/>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полный анализ потребительских сегментов</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07" name="Google Shape;107;p5"/>
          <p:cNvSpPr txBox="1"/>
          <p:nvPr/>
        </p:nvSpPr>
        <p:spPr>
          <a:xfrm>
            <a:off x="376058" y="1954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Решение</a:t>
            </a:r>
            <a:endParaRPr b="1" i="0" sz="2800" u="none" cap="none" strike="noStrike">
              <a:solidFill>
                <a:srgbClr val="123194"/>
              </a:solidFill>
              <a:latin typeface="Montserrat"/>
              <a:ea typeface="Montserrat"/>
              <a:cs typeface="Montserrat"/>
              <a:sym typeface="Montserrat"/>
            </a:endParaRPr>
          </a:p>
        </p:txBody>
      </p:sp>
      <p:sp>
        <p:nvSpPr>
          <p:cNvPr id="108" name="Google Shape;108;p5"/>
          <p:cNvSpPr txBox="1"/>
          <p:nvPr/>
        </p:nvSpPr>
        <p:spPr>
          <a:xfrm>
            <a:off x="408750" y="986400"/>
            <a:ext cx="5020500" cy="3431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Сформулируйте </a:t>
            </a:r>
            <a:r>
              <a:rPr b="1" i="1" lang="ru" sz="1200" u="none" cap="none" strike="noStrike">
                <a:solidFill>
                  <a:srgbClr val="980000"/>
                </a:solidFill>
                <a:latin typeface="Montserrat"/>
                <a:ea typeface="Montserrat"/>
                <a:cs typeface="Montserrat"/>
                <a:sym typeface="Montserrat"/>
              </a:rPr>
              <a:t>решение </a:t>
            </a:r>
            <a:r>
              <a:rPr b="0" i="1" lang="ru" sz="1200" u="none" cap="none" strike="noStrike">
                <a:solidFill>
                  <a:srgbClr val="980000"/>
                </a:solidFill>
                <a:latin typeface="Montserrat"/>
                <a:ea typeface="Montserrat"/>
                <a:cs typeface="Montserrat"/>
                <a:sym typeface="Montserrat"/>
              </a:rPr>
              <a:t>в 1–2 предложениях: </a:t>
            </a:r>
            <a:endParaRPr b="0" i="1"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[Название продукта] — это [категория продукта] </a:t>
            </a:r>
            <a:r>
              <a:rPr i="1" lang="ru" sz="1200">
                <a:solidFill>
                  <a:srgbClr val="980000"/>
                </a:solidFill>
                <a:latin typeface="Montserrat"/>
                <a:ea typeface="Montserrat"/>
                <a:cs typeface="Montserrat"/>
                <a:sym typeface="Montserrat"/>
              </a:rPr>
              <a:t>по</a:t>
            </a:r>
            <a:r>
              <a:rPr b="0" i="1" lang="ru" sz="1200" u="none" cap="none" strike="noStrike">
                <a:solidFill>
                  <a:srgbClr val="980000"/>
                </a:solidFill>
                <a:latin typeface="Montserrat"/>
                <a:ea typeface="Montserrat"/>
                <a:cs typeface="Montserrat"/>
                <a:sym typeface="Montserrat"/>
              </a:rPr>
              <a:t> решению [JTBD задачи/процесс</a:t>
            </a:r>
            <a:r>
              <a:rPr i="1" lang="ru" sz="1200">
                <a:solidFill>
                  <a:srgbClr val="980000"/>
                </a:solidFill>
                <a:latin typeface="Montserrat"/>
                <a:ea typeface="Montserrat"/>
                <a:cs typeface="Montserrat"/>
                <a:sym typeface="Montserrat"/>
              </a:rPr>
              <a:t>ов</a:t>
            </a:r>
            <a:r>
              <a:rPr b="0" i="1" lang="ru" sz="1200" u="none" cap="none" strike="noStrike">
                <a:solidFill>
                  <a:srgbClr val="980000"/>
                </a:solidFill>
                <a:latin typeface="Montserrat"/>
                <a:ea typeface="Montserrat"/>
                <a:cs typeface="Montserrat"/>
                <a:sym typeface="Montserrat"/>
              </a:rPr>
              <a:t>] для [целевой аудитории]  с эффектами: </a:t>
            </a:r>
            <a:endParaRPr b="0" i="1"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[ключевое преимущество 1],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[преимущество 2], </a:t>
            </a:r>
            <a:br>
              <a:rPr i="1" lang="ru" sz="1200">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[преимущество 3]</a:t>
            </a:r>
            <a:endParaRPr b="0" i="1"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УТП: </a:t>
            </a:r>
            <a:r>
              <a:rPr lang="ru" sz="1200">
                <a:solidFill>
                  <a:srgbClr val="980000"/>
                </a:solidFill>
                <a:latin typeface="Montserrat"/>
                <a:ea typeface="Montserrat"/>
                <a:cs typeface="Montserrat"/>
                <a:sym typeface="Montserrat"/>
              </a:rPr>
              <a:t>основное отличие вашего продукта от конкурентов согласно конструкту</a:t>
            </a:r>
            <a:endParaRPr i="1" sz="1200">
              <a:solidFill>
                <a:srgbClr val="CC0000"/>
              </a:solidFill>
              <a:latin typeface="Montserrat"/>
              <a:ea typeface="Montserrat"/>
              <a:cs typeface="Montserrat"/>
              <a:sym typeface="Montserrat"/>
            </a:endParaRPr>
          </a:p>
          <a:p>
            <a:pPr indent="0" lvl="0" marL="0" marR="0" rtl="0" algn="l">
              <a:lnSpc>
                <a:spcPct val="115000"/>
              </a:lnSpc>
              <a:spcBef>
                <a:spcPts val="80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Технологии в основе: </a:t>
            </a:r>
            <a:r>
              <a:rPr lang="ru" sz="1200">
                <a:solidFill>
                  <a:srgbClr val="980000"/>
                </a:solidFill>
                <a:latin typeface="Montserrat"/>
                <a:ea typeface="Montserrat"/>
                <a:cs typeface="Montserrat"/>
                <a:sym typeface="Montserrat"/>
              </a:rPr>
              <a:t>обозначьте планируемые </a:t>
            </a:r>
            <a:r>
              <a:rPr b="1" lang="ru" sz="1200">
                <a:solidFill>
                  <a:srgbClr val="980000"/>
                </a:solidFill>
                <a:latin typeface="Montserrat"/>
                <a:ea typeface="Montserrat"/>
                <a:cs typeface="Montserrat"/>
                <a:sym typeface="Montserrat"/>
              </a:rPr>
              <a:t>технологии </a:t>
            </a:r>
            <a:r>
              <a:rPr lang="ru" sz="1200">
                <a:solidFill>
                  <a:srgbClr val="980000"/>
                </a:solidFill>
                <a:latin typeface="Montserrat"/>
                <a:ea typeface="Montserrat"/>
                <a:cs typeface="Montserrat"/>
                <a:sym typeface="Montserrat"/>
              </a:rPr>
              <a:t>в основе продукта, которые позволяют решить проблему новым/инновационным способом</a:t>
            </a:r>
            <a:endParaRPr b="1" sz="1200">
              <a:solidFill>
                <a:srgbClr val="980000"/>
              </a:solidFill>
              <a:latin typeface="Montserrat"/>
              <a:ea typeface="Montserrat"/>
              <a:cs typeface="Montserrat"/>
              <a:sym typeface="Montserrat"/>
            </a:endParaRPr>
          </a:p>
          <a:p>
            <a:pPr indent="0" lvl="0" marL="0" marR="0" rtl="0" algn="l">
              <a:lnSpc>
                <a:spcPct val="115000"/>
              </a:lnSpc>
              <a:spcBef>
                <a:spcPts val="800"/>
              </a:spcBef>
              <a:spcAft>
                <a:spcPts val="800"/>
              </a:spcAft>
              <a:buClr>
                <a:srgbClr val="000000"/>
              </a:buClr>
              <a:buSzPts val="1200"/>
              <a:buFont typeface="Arial"/>
              <a:buNone/>
            </a:pPr>
            <a:r>
              <a:t/>
            </a:r>
            <a:endParaRPr i="1" sz="1200">
              <a:solidFill>
                <a:srgbClr val="CC0000"/>
              </a:solidFill>
              <a:latin typeface="Montserrat"/>
              <a:ea typeface="Montserrat"/>
              <a:cs typeface="Montserrat"/>
              <a:sym typeface="Montserrat"/>
            </a:endParaRPr>
          </a:p>
        </p:txBody>
      </p:sp>
      <p:sp>
        <p:nvSpPr>
          <p:cNvPr id="109" name="Google Shape;109;p5"/>
          <p:cNvSpPr/>
          <p:nvPr/>
        </p:nvSpPr>
        <p:spPr>
          <a:xfrm>
            <a:off x="5623450" y="910200"/>
            <a:ext cx="2916600" cy="37188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
          <p:cNvSpPr txBox="1"/>
          <p:nvPr/>
        </p:nvSpPr>
        <p:spPr>
          <a:xfrm>
            <a:off x="5924166" y="1931085"/>
            <a:ext cx="23151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ru" sz="1200" u="none" cap="none" strike="noStrike">
                <a:solidFill>
                  <a:schemeClr val="dk1"/>
                </a:solidFill>
                <a:latin typeface="Montserrat"/>
                <a:ea typeface="Montserrat"/>
                <a:cs typeface="Montserrat"/>
                <a:sym typeface="Montserrat"/>
              </a:rPr>
              <a:t>*Изображение / схема / визуальное представление будущего продукта</a:t>
            </a:r>
            <a:endParaRPr b="0" i="0" sz="1200" u="none" cap="none" strike="noStrike">
              <a:solidFill>
                <a:schemeClr val="dk1"/>
              </a:solidFill>
              <a:latin typeface="Montserrat"/>
              <a:ea typeface="Montserrat"/>
              <a:cs typeface="Montserrat"/>
              <a:sym typeface="Montserrat"/>
            </a:endParaRPr>
          </a:p>
        </p:txBody>
      </p:sp>
      <p:sp>
        <p:nvSpPr>
          <p:cNvPr id="111" name="Google Shape;111;p5"/>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aphicFrame>
        <p:nvGraphicFramePr>
          <p:cNvPr id="116" name="Google Shape;116;p6"/>
          <p:cNvGraphicFramePr/>
          <p:nvPr/>
        </p:nvGraphicFramePr>
        <p:xfrm>
          <a:off x="383650" y="986900"/>
          <a:ext cx="3000000" cy="3000000"/>
        </p:xfrm>
        <a:graphic>
          <a:graphicData uri="http://schemas.openxmlformats.org/drawingml/2006/table">
            <a:tbl>
              <a:tblPr>
                <a:noFill/>
                <a:tableStyleId>{FFC42287-9CCA-4F47-93BB-E4E9780593B4}</a:tableStyleId>
              </a:tblPr>
              <a:tblGrid>
                <a:gridCol w="2693425"/>
                <a:gridCol w="2693425"/>
                <a:gridCol w="2693425"/>
              </a:tblGrid>
              <a:tr h="383925">
                <a:tc>
                  <a:txBody>
                    <a:bodyPr/>
                    <a:lstStyle/>
                    <a:p>
                      <a:pPr indent="0" lvl="0" marL="0" marR="0" rtl="0" algn="l">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Потребительский сегмент 1</a:t>
                      </a:r>
                      <a:endParaRPr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Потребительский сегмент 2</a:t>
                      </a:r>
                      <a:endParaRPr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Потребительский сегмент 3</a:t>
                      </a:r>
                      <a:endParaRPr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000825">
                <a:tc>
                  <a:txBody>
                    <a:bodyPr/>
                    <a:lstStyle/>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Объединяющая потребность</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Ценностное предложение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Приоритет №___</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CustDev: ___ </a:t>
                      </a:r>
                      <a:r>
                        <a:rPr i="1" lang="ru" sz="1200" u="none" cap="none" strike="noStrike">
                          <a:solidFill>
                            <a:srgbClr val="980000"/>
                          </a:solidFill>
                          <a:latin typeface="Montserrat"/>
                          <a:ea typeface="Montserrat"/>
                          <a:cs typeface="Montserrat"/>
                          <a:sym typeface="Montserrat"/>
                        </a:rPr>
                        <a:t>(кол-во)</a:t>
                      </a:r>
                      <a:endParaRPr sz="12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Конечные пользователи: </a:t>
                      </a:r>
                      <a:r>
                        <a:rPr i="1" lang="ru" sz="1200" u="none" cap="none" strike="noStrike">
                          <a:solidFill>
                            <a:srgbClr val="980000"/>
                          </a:solidFill>
                          <a:latin typeface="Montserrat"/>
                          <a:ea typeface="Montserrat"/>
                          <a:cs typeface="Montserrat"/>
                          <a:sym typeface="Montserrat"/>
                        </a:rPr>
                        <a:t>ЛПР/ЛВР</a:t>
                      </a:r>
                      <a:endParaRPr i="1" sz="1200" u="none" cap="none" strike="noStrike">
                        <a:solidFill>
                          <a:srgbClr val="980000"/>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ru" sz="1200" u="none" cap="none" strike="noStrike">
                          <a:solidFill>
                            <a:schemeClr val="dk1"/>
                          </a:solidFill>
                          <a:latin typeface="Montserrat"/>
                          <a:ea typeface="Montserrat"/>
                          <a:cs typeface="Montserrat"/>
                          <a:sym typeface="Montserrat"/>
                        </a:rPr>
                        <a:t>Объединяющая потребность</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Ценностное предложение </a:t>
                      </a:r>
                      <a:endParaRPr i="1" sz="12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lang="ru" sz="1200" u="none" cap="none" strike="noStrike">
                          <a:solidFill>
                            <a:schemeClr val="dk1"/>
                          </a:solidFill>
                          <a:latin typeface="Montserrat"/>
                          <a:ea typeface="Montserrat"/>
                          <a:cs typeface="Montserrat"/>
                          <a:sym typeface="Montserrat"/>
                        </a:rPr>
                        <a:t>Приоритет №___</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CustDev: ___ </a:t>
                      </a:r>
                      <a:r>
                        <a:rPr i="1" lang="ru" sz="1200" u="none" cap="none" strike="noStrike">
                          <a:solidFill>
                            <a:srgbClr val="980000"/>
                          </a:solidFill>
                          <a:latin typeface="Montserrat"/>
                          <a:ea typeface="Montserrat"/>
                          <a:cs typeface="Montserrat"/>
                          <a:sym typeface="Montserrat"/>
                        </a:rPr>
                        <a:t>(кол-во)</a:t>
                      </a:r>
                      <a:endParaRPr sz="12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Конечные пользователи: </a:t>
                      </a:r>
                      <a:r>
                        <a:rPr i="1" lang="ru" sz="1200" u="none" cap="none" strike="noStrike">
                          <a:solidFill>
                            <a:srgbClr val="980000"/>
                          </a:solidFill>
                          <a:latin typeface="Montserrat"/>
                          <a:ea typeface="Montserrat"/>
                          <a:cs typeface="Montserrat"/>
                          <a:sym typeface="Montserrat"/>
                        </a:rPr>
                        <a:t>ЛПР/ЛВР</a:t>
                      </a:r>
                      <a:endParaRPr sz="1200" u="none" cap="none" strike="noStrike">
                        <a:solidFill>
                          <a:srgbClr val="980000"/>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Объединяющая потребность</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Ценностное предложение </a:t>
                      </a:r>
                      <a:endParaRPr i="1" sz="12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Приоритет №___</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CustDev: ___ </a:t>
                      </a:r>
                      <a:r>
                        <a:rPr i="1" lang="ru" sz="1200" u="none" cap="none" strike="noStrike">
                          <a:solidFill>
                            <a:srgbClr val="980000"/>
                          </a:solidFill>
                          <a:latin typeface="Montserrat"/>
                          <a:ea typeface="Montserrat"/>
                          <a:cs typeface="Montserrat"/>
                          <a:sym typeface="Montserrat"/>
                        </a:rPr>
                        <a:t>(кол-во)</a:t>
                      </a:r>
                      <a:endParaRPr i="1" sz="12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lang="ru" sz="1200" u="none" cap="none" strike="noStrike">
                          <a:solidFill>
                            <a:schemeClr val="dk1"/>
                          </a:solidFill>
                          <a:latin typeface="Montserrat"/>
                          <a:ea typeface="Montserrat"/>
                          <a:cs typeface="Montserrat"/>
                          <a:sym typeface="Montserrat"/>
                        </a:rPr>
                        <a:t>Конечные пользователи: </a:t>
                      </a:r>
                      <a:r>
                        <a:rPr i="1" lang="ru" sz="1200" u="none" cap="none" strike="noStrike">
                          <a:solidFill>
                            <a:srgbClr val="980000"/>
                          </a:solidFill>
                          <a:latin typeface="Montserrat"/>
                          <a:ea typeface="Montserrat"/>
                          <a:cs typeface="Montserrat"/>
                          <a:sym typeface="Montserrat"/>
                        </a:rPr>
                        <a:t>ЛПР/ЛВР</a:t>
                      </a:r>
                      <a:endParaRPr sz="1200" u="none" cap="none" strike="noStrike">
                        <a:solidFill>
                          <a:srgbClr val="980000"/>
                        </a:solidFill>
                        <a:latin typeface="Montserrat"/>
                        <a:ea typeface="Montserrat"/>
                        <a:cs typeface="Montserrat"/>
                        <a:sym typeface="Montserra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pic>
        <p:nvPicPr>
          <p:cNvPr id="117" name="Google Shape;117;p6"/>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18" name="Google Shape;118;p6"/>
          <p:cNvSpPr txBox="1"/>
          <p:nvPr/>
        </p:nvSpPr>
        <p:spPr>
          <a:xfrm>
            <a:off x="368550" y="279500"/>
            <a:ext cx="8503200" cy="70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Потребительские сегменты</a:t>
            </a:r>
            <a:endParaRPr b="1" i="0" sz="2800" u="none" cap="none" strike="noStrike">
              <a:solidFill>
                <a:srgbClr val="123194"/>
              </a:solidFill>
              <a:latin typeface="Montserrat"/>
              <a:ea typeface="Montserrat"/>
              <a:cs typeface="Montserrat"/>
              <a:sym typeface="Montserrat"/>
            </a:endParaRPr>
          </a:p>
        </p:txBody>
      </p:sp>
      <p:sp>
        <p:nvSpPr>
          <p:cNvPr id="119" name="Google Shape;119;p6"/>
          <p:cNvSpPr txBox="1"/>
          <p:nvPr/>
        </p:nvSpPr>
        <p:spPr>
          <a:xfrm>
            <a:off x="345600" y="3328025"/>
            <a:ext cx="8004000" cy="140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Опишите, кто ваш покупатель (целевая аудитория) — ЛВР или ЛПР, и какие потребительские сегменты вы выделили на основе исследований в «2. Целевая аудитория. Профиль сегмента». Выделите те сегменты, на которые вы будете выходить на этапе MVP (пометьте их приоритетность). Кратко сформулируйте ценностные предложения по информации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из листа «4. БФТ» раздела «Ценностное предложение для будущего продукта»</a:t>
            </a:r>
            <a:endParaRPr b="0" i="1" sz="12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1" sz="1000" u="none" cap="none" strike="noStrike">
              <a:solidFill>
                <a:srgbClr val="CC0000"/>
              </a:solidFill>
              <a:latin typeface="Montserrat"/>
              <a:ea typeface="Montserrat"/>
              <a:cs typeface="Montserrat"/>
              <a:sym typeface="Montserrat"/>
            </a:endParaRPr>
          </a:p>
        </p:txBody>
      </p:sp>
      <p:sp>
        <p:nvSpPr>
          <p:cNvPr id="120" name="Google Shape;120;p6"/>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
        <p:nvSpPr>
          <p:cNvPr id="121" name="Google Shape;121;p6"/>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полный анализ потребительских сегментов</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7"/>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27" name="Google Shape;127;p7"/>
          <p:cNvSpPr txBox="1"/>
          <p:nvPr/>
        </p:nvSpPr>
        <p:spPr>
          <a:xfrm>
            <a:off x="332325" y="246500"/>
            <a:ext cx="8284200" cy="816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Конкурентный анализ</a:t>
            </a:r>
            <a:endParaRPr b="1" i="0" sz="2800" u="none" cap="none" strike="noStrike">
              <a:solidFill>
                <a:srgbClr val="123194"/>
              </a:solidFill>
              <a:latin typeface="Montserrat"/>
              <a:ea typeface="Montserrat"/>
              <a:cs typeface="Montserrat"/>
              <a:sym typeface="Montserrat"/>
            </a:endParaRPr>
          </a:p>
        </p:txBody>
      </p:sp>
      <p:sp>
        <p:nvSpPr>
          <p:cNvPr id="128" name="Google Shape;128;p7"/>
          <p:cNvSpPr txBox="1"/>
          <p:nvPr/>
        </p:nvSpPr>
        <p:spPr>
          <a:xfrm>
            <a:off x="397350" y="3570300"/>
            <a:ext cx="8001600" cy="88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100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Обобщите информацию об основных топ-конкурентах, используя блок «Итоговое сравнение конкурентов» из листа «3. Конкурентный анализ»</a:t>
            </a:r>
            <a:endParaRPr b="0" i="1" sz="1200" u="none" cap="none" strike="noStrike">
              <a:solidFill>
                <a:srgbClr val="980000"/>
              </a:solidFill>
              <a:latin typeface="Montserrat"/>
              <a:ea typeface="Montserrat"/>
              <a:cs typeface="Montserrat"/>
              <a:sym typeface="Montserrat"/>
            </a:endParaRPr>
          </a:p>
        </p:txBody>
      </p:sp>
      <p:graphicFrame>
        <p:nvGraphicFramePr>
          <p:cNvPr id="129" name="Google Shape;129;p7"/>
          <p:cNvGraphicFramePr/>
          <p:nvPr/>
        </p:nvGraphicFramePr>
        <p:xfrm>
          <a:off x="473550" y="1338700"/>
          <a:ext cx="3000000" cy="3000000"/>
        </p:xfrm>
        <a:graphic>
          <a:graphicData uri="http://schemas.openxmlformats.org/drawingml/2006/table">
            <a:tbl>
              <a:tblPr>
                <a:noFill/>
                <a:tableStyleId>{FFC42287-9CCA-4F47-93BB-E4E9780593B4}</a:tableStyleId>
              </a:tblPr>
              <a:tblGrid>
                <a:gridCol w="1686875"/>
                <a:gridCol w="1513825"/>
                <a:gridCol w="1600350"/>
                <a:gridCol w="1600350"/>
                <a:gridCol w="1600350"/>
              </a:tblGrid>
              <a:tr h="630575">
                <a:tc>
                  <a:txBody>
                    <a:bodyPr/>
                    <a:lstStyle/>
                    <a:p>
                      <a:pPr indent="0" lvl="0" marL="0" marR="0" rtl="0" algn="ctr">
                        <a:lnSpc>
                          <a:spcPct val="100000"/>
                        </a:lnSpc>
                        <a:spcBef>
                          <a:spcPts val="0"/>
                        </a:spcBef>
                        <a:spcAft>
                          <a:spcPts val="0"/>
                        </a:spcAft>
                        <a:buClr>
                          <a:srgbClr val="000000"/>
                        </a:buClr>
                        <a:buSzPts val="1200"/>
                        <a:buFont typeface="Arial"/>
                        <a:buNone/>
                      </a:pPr>
                      <a:r>
                        <a:rPr b="1" lang="ru" sz="1200" u="none" cap="none" strike="noStrike">
                          <a:latin typeface="Montserrat"/>
                          <a:ea typeface="Montserrat"/>
                          <a:cs typeface="Montserrat"/>
                          <a:sym typeface="Montserrat"/>
                        </a:rPr>
                        <a:t>Основные конкуренты </a:t>
                      </a:r>
                      <a:endParaRPr b="1"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ru" sz="1200" u="none" cap="none" strike="noStrike">
                          <a:solidFill>
                            <a:schemeClr val="dk1"/>
                          </a:solidFill>
                          <a:latin typeface="Montserrat"/>
                          <a:ea typeface="Montserrat"/>
                          <a:cs typeface="Montserrat"/>
                          <a:sym typeface="Montserrat"/>
                        </a:rPr>
                        <a:t>Конкурент 1</a:t>
                      </a:r>
                      <a:endParaRPr sz="1400" u="none" cap="none" strike="noStrike"/>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ru" sz="1200" u="none" cap="none" strike="noStrike">
                          <a:solidFill>
                            <a:schemeClr val="dk1"/>
                          </a:solidFill>
                          <a:latin typeface="Montserrat"/>
                          <a:ea typeface="Montserrat"/>
                          <a:cs typeface="Montserrat"/>
                          <a:sym typeface="Montserrat"/>
                        </a:rPr>
                        <a:t>Конкурент 2</a:t>
                      </a:r>
                      <a:endParaRPr sz="1400" u="none" cap="none" strike="noStrike"/>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ru" sz="1200" u="none" cap="none" strike="noStrike">
                          <a:solidFill>
                            <a:schemeClr val="dk1"/>
                          </a:solidFill>
                          <a:latin typeface="Montserrat"/>
                          <a:ea typeface="Montserrat"/>
                          <a:cs typeface="Montserrat"/>
                          <a:sym typeface="Montserrat"/>
                        </a:rPr>
                        <a:t>Конкурент 3</a:t>
                      </a:r>
                      <a:endParaRPr sz="1400" u="none" cap="none" strike="noStrike"/>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Наш продукт</a:t>
                      </a:r>
                      <a:endParaRPr b="1"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r h="443975">
                <a:tc>
                  <a:txBody>
                    <a:bodyPr/>
                    <a:lstStyle/>
                    <a:p>
                      <a:pPr indent="0" lvl="0" marL="0" marR="0" rtl="0" algn="ctr">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Характеристика 1</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r h="443975">
                <a:tc>
                  <a:txBody>
                    <a:bodyPr/>
                    <a:lstStyle/>
                    <a:p>
                      <a:pPr indent="0" lvl="0" marL="0" marR="0" rtl="0" algn="ctr">
                        <a:lnSpc>
                          <a:spcPct val="100000"/>
                        </a:lnSpc>
                        <a:spcBef>
                          <a:spcPts val="0"/>
                        </a:spcBef>
                        <a:spcAft>
                          <a:spcPts val="0"/>
                        </a:spcAft>
                        <a:buClr>
                          <a:schemeClr val="dk1"/>
                        </a:buClr>
                        <a:buSzPts val="1100"/>
                        <a:buFont typeface="Arial"/>
                        <a:buNone/>
                      </a:pPr>
                      <a:r>
                        <a:rPr b="1" lang="ru" sz="1200" u="none" cap="none" strike="noStrike">
                          <a:solidFill>
                            <a:schemeClr val="dk1"/>
                          </a:solidFill>
                          <a:latin typeface="Montserrat"/>
                          <a:ea typeface="Montserrat"/>
                          <a:cs typeface="Montserrat"/>
                          <a:sym typeface="Montserrat"/>
                        </a:rPr>
                        <a:t>Характеристика 2</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r h="443975">
                <a:tc>
                  <a:txBody>
                    <a:bodyPr/>
                    <a:lstStyle/>
                    <a:p>
                      <a:pPr indent="0" lvl="0" marL="0" marR="0" rtl="0" algn="ctr">
                        <a:lnSpc>
                          <a:spcPct val="100000"/>
                        </a:lnSpc>
                        <a:spcBef>
                          <a:spcPts val="0"/>
                        </a:spcBef>
                        <a:spcAft>
                          <a:spcPts val="0"/>
                        </a:spcAft>
                        <a:buClr>
                          <a:schemeClr val="dk1"/>
                        </a:buClr>
                        <a:buSzPts val="1100"/>
                        <a:buFont typeface="Arial"/>
                        <a:buNone/>
                      </a:pPr>
                      <a:r>
                        <a:rPr b="1" lang="ru" sz="1200" u="none" cap="none" strike="noStrike">
                          <a:solidFill>
                            <a:schemeClr val="dk1"/>
                          </a:solidFill>
                          <a:latin typeface="Montserrat"/>
                          <a:ea typeface="Montserrat"/>
                          <a:cs typeface="Montserrat"/>
                          <a:sym typeface="Montserrat"/>
                        </a:rPr>
                        <a:t>Характеристика 3</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bl>
          </a:graphicData>
        </a:graphic>
      </p:graphicFrame>
      <p:sp>
        <p:nvSpPr>
          <p:cNvPr id="130" name="Google Shape;130;p7"/>
          <p:cNvSpPr/>
          <p:nvPr/>
        </p:nvSpPr>
        <p:spPr>
          <a:xfrm>
            <a:off x="4984950" y="86525"/>
            <a:ext cx="3947700" cy="8163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1" lang="ru" sz="1000" u="none" cap="none" strike="noStrike">
                <a:solidFill>
                  <a:schemeClr val="lt1"/>
                </a:solidFill>
                <a:latin typeface="Montserrat"/>
                <a:ea typeface="Montserrat"/>
                <a:cs typeface="Montserrat"/>
                <a:sym typeface="Montserrat"/>
              </a:rPr>
              <a:t>Проговорить: «Мы проанализировали следующих конкурентов и выделили следующие конкурентные преимущества: …»</a:t>
            </a:r>
            <a:endParaRPr b="0" i="1" sz="1000" u="none" cap="none" strike="noStrike">
              <a:solidFill>
                <a:schemeClr val="lt1"/>
              </a:solidFill>
              <a:latin typeface="Montserrat"/>
              <a:ea typeface="Montserrat"/>
              <a:cs typeface="Montserrat"/>
              <a:sym typeface="Montserrat"/>
            </a:endParaRPr>
          </a:p>
        </p:txBody>
      </p:sp>
      <p:sp>
        <p:nvSpPr>
          <p:cNvPr id="131" name="Google Shape;131;p7"/>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полный анализ конкурентов</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8"/>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37" name="Google Shape;137;p8"/>
          <p:cNvSpPr txBox="1"/>
          <p:nvPr/>
        </p:nvSpPr>
        <p:spPr>
          <a:xfrm>
            <a:off x="321325" y="246500"/>
            <a:ext cx="8218800" cy="74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Инновационность и технологичность</a:t>
            </a:r>
            <a:endParaRPr b="1" i="0" sz="2800" u="none" cap="none" strike="noStrike">
              <a:solidFill>
                <a:srgbClr val="123194"/>
              </a:solidFill>
              <a:latin typeface="Montserrat"/>
              <a:ea typeface="Montserrat"/>
              <a:cs typeface="Montserrat"/>
              <a:sym typeface="Montserrat"/>
            </a:endParaRPr>
          </a:p>
        </p:txBody>
      </p:sp>
      <p:sp>
        <p:nvSpPr>
          <p:cNvPr id="138" name="Google Shape;138;p8"/>
          <p:cNvSpPr txBox="1"/>
          <p:nvPr/>
        </p:nvSpPr>
        <p:spPr>
          <a:xfrm>
            <a:off x="492100" y="4086001"/>
            <a:ext cx="81678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chemeClr val="dk1"/>
              </a:buClr>
              <a:buSzPts val="3200"/>
              <a:buFont typeface="Libre Franklin"/>
              <a:buNone/>
            </a:pPr>
            <a:r>
              <a:rPr b="0" i="1" lang="ru" sz="1200" u="none" cap="none" strike="noStrike">
                <a:solidFill>
                  <a:srgbClr val="980000"/>
                </a:solidFill>
                <a:latin typeface="Montserrat"/>
                <a:ea typeface="Montserrat"/>
                <a:cs typeface="Montserrat"/>
                <a:sym typeface="Montserrat"/>
              </a:rPr>
              <a:t>Этот слайд — продолжение предыдущих выводов о конкурентных преимуществах. Используйте блок «Финальная гипотеза продукта и УТП» из листа «3. Конкурентный анализ»</a:t>
            </a:r>
            <a:endParaRPr b="0" i="1" sz="1200" u="none" cap="none" strike="noStrike">
              <a:solidFill>
                <a:srgbClr val="980000"/>
              </a:solidFill>
              <a:latin typeface="Montserrat"/>
              <a:ea typeface="Montserrat"/>
              <a:cs typeface="Montserrat"/>
              <a:sym typeface="Montserrat"/>
            </a:endParaRPr>
          </a:p>
        </p:txBody>
      </p:sp>
      <p:graphicFrame>
        <p:nvGraphicFramePr>
          <p:cNvPr id="139" name="Google Shape;139;p8"/>
          <p:cNvGraphicFramePr/>
          <p:nvPr/>
        </p:nvGraphicFramePr>
        <p:xfrm>
          <a:off x="492100" y="1139300"/>
          <a:ext cx="3000000" cy="3000000"/>
        </p:xfrm>
        <a:graphic>
          <a:graphicData uri="http://schemas.openxmlformats.org/drawingml/2006/table">
            <a:tbl>
              <a:tblPr>
                <a:noFill/>
                <a:tableStyleId>{FFC42287-9CCA-4F47-93BB-E4E9780593B4}</a:tableStyleId>
              </a:tblPr>
              <a:tblGrid>
                <a:gridCol w="2012900"/>
                <a:gridCol w="5864350"/>
              </a:tblGrid>
              <a:tr h="390950">
                <a:tc>
                  <a:txBody>
                    <a:bodyPr/>
                    <a:lstStyle/>
                    <a:p>
                      <a:pPr indent="0" lvl="0" marL="0" marR="0" rtl="0" algn="l">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Уникальное торговое предложение</a:t>
                      </a:r>
                      <a:endParaRPr b="1"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i="1" lang="ru" sz="1200" u="none" cap="none" strike="noStrike">
                          <a:solidFill>
                            <a:srgbClr val="980000"/>
                          </a:solidFill>
                          <a:latin typeface="Montserrat"/>
                          <a:ea typeface="Montserrat"/>
                          <a:cs typeface="Montserrat"/>
                          <a:sym typeface="Montserrat"/>
                        </a:rPr>
                        <a:t>Обоснованное уточненное на основе анализа УТП</a:t>
                      </a:r>
                      <a:endParaRPr i="1" sz="1200" u="none" cap="none" strike="noStrike">
                        <a:solidFill>
                          <a:srgbClr val="980000"/>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r h="390950">
                <a:tc>
                  <a:txBody>
                    <a:bodyPr/>
                    <a:lstStyle/>
                    <a:p>
                      <a:pPr indent="0" lvl="0" marL="0" marR="0" rtl="0" algn="l">
                        <a:lnSpc>
                          <a:spcPct val="100000"/>
                        </a:lnSpc>
                        <a:spcBef>
                          <a:spcPts val="0"/>
                        </a:spcBef>
                        <a:spcAft>
                          <a:spcPts val="0"/>
                        </a:spcAft>
                        <a:buClr>
                          <a:srgbClr val="000000"/>
                        </a:buClr>
                        <a:buSzPts val="1200"/>
                        <a:buFont typeface="Arial"/>
                        <a:buNone/>
                      </a:pPr>
                      <a:r>
                        <a:rPr b="1" lang="ru" sz="1200" u="none" cap="none" strike="noStrike">
                          <a:solidFill>
                            <a:schemeClr val="dk1"/>
                          </a:solidFill>
                          <a:latin typeface="Montserrat"/>
                          <a:ea typeface="Montserrat"/>
                          <a:cs typeface="Montserrat"/>
                          <a:sym typeface="Montserrat"/>
                        </a:rPr>
                        <a:t>Инновационная составляющая</a:t>
                      </a:r>
                      <a:endParaRPr b="1" sz="12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i="1" lang="ru" sz="1200" u="none" cap="none" strike="noStrike">
                          <a:solidFill>
                            <a:srgbClr val="980000"/>
                          </a:solidFill>
                          <a:latin typeface="Montserrat"/>
                          <a:ea typeface="Montserrat"/>
                          <a:cs typeface="Montserrat"/>
                          <a:sym typeface="Montserrat"/>
                        </a:rPr>
                        <a:t>Кратко опишите инновационную составляющую </a:t>
                      </a:r>
                      <a:r>
                        <a:rPr i="1" lang="ru" sz="1200">
                          <a:solidFill>
                            <a:srgbClr val="980000"/>
                          </a:solidFill>
                          <a:latin typeface="Montserrat"/>
                          <a:ea typeface="Montserrat"/>
                          <a:cs typeface="Montserrat"/>
                          <a:sym typeface="Montserrat"/>
                        </a:rPr>
                        <a:t>своего</a:t>
                      </a:r>
                      <a:r>
                        <a:rPr i="1" lang="ru" sz="1200" u="none" cap="none" strike="noStrike">
                          <a:solidFill>
                            <a:srgbClr val="980000"/>
                          </a:solidFill>
                          <a:latin typeface="Montserrat"/>
                          <a:ea typeface="Montserrat"/>
                          <a:cs typeface="Montserrat"/>
                          <a:sym typeface="Montserrat"/>
                        </a:rPr>
                        <a:t> проекта. Этот аспект — аналог критерия «новизна» в научной работе. Покажите, как ваши конкурентные преимущества (в том числе УТП) связаны с инновационной частью продукта. Объясните, почему ваше решение — лучшее для выбранной проблемы, и какие технологии или особенности делают его таким. Для этого используйте информацию из листов «Конкурентный анализ» и «БФТ».</a:t>
                      </a:r>
                      <a:endParaRPr i="1"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200"/>
                        <a:buFont typeface="Arial"/>
                        <a:buNone/>
                      </a:pPr>
                      <a:r>
                        <a:rPr i="1" lang="ru" sz="1200" u="none" cap="none" strike="noStrike">
                          <a:solidFill>
                            <a:srgbClr val="980000"/>
                          </a:solidFill>
                          <a:latin typeface="Montserrat"/>
                          <a:ea typeface="Montserrat"/>
                          <a:cs typeface="Montserrat"/>
                          <a:sym typeface="Montserrat"/>
                        </a:rPr>
                        <a:t>Используйте слова из списка теоретических элементов для формулирования новизны/инновационности: </a:t>
                      </a:r>
                      <a:br>
                        <a:rPr i="1" lang="ru" sz="1200" u="none" cap="none" strike="noStrike">
                          <a:solidFill>
                            <a:srgbClr val="980000"/>
                          </a:solidFill>
                          <a:latin typeface="Montserrat"/>
                          <a:ea typeface="Montserrat"/>
                          <a:cs typeface="Montserrat"/>
                          <a:sym typeface="Montserrat"/>
                        </a:rPr>
                      </a:br>
                      <a:r>
                        <a:rPr i="1" lang="ru" sz="1200" u="none" cap="none" strike="noStrike">
                          <a:solidFill>
                            <a:srgbClr val="980000"/>
                          </a:solidFill>
                          <a:latin typeface="Montserrat"/>
                          <a:ea typeface="Montserrat"/>
                          <a:cs typeface="Montserrat"/>
                          <a:sym typeface="Montserrat"/>
                        </a:rPr>
                        <a:t>«Мы разработали/адаптировали/интегрировали/развили…»</a:t>
                      </a:r>
                      <a:endParaRPr i="1" sz="1200" u="none" cap="none" strike="noStrike">
                        <a:solidFill>
                          <a:srgbClr val="980000"/>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bl>
          </a:graphicData>
        </a:graphic>
      </p:graphicFrame>
      <p:sp>
        <p:nvSpPr>
          <p:cNvPr id="140" name="Google Shape;140;p8"/>
          <p:cNvSpPr/>
          <p:nvPr/>
        </p:nvSpPr>
        <p:spPr>
          <a:xfrm>
            <a:off x="7041350" y="798175"/>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9"/>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46" name="Google Shape;146;p9"/>
          <p:cNvSpPr txBox="1"/>
          <p:nvPr/>
        </p:nvSpPr>
        <p:spPr>
          <a:xfrm>
            <a:off x="332325" y="257500"/>
            <a:ext cx="8284200" cy="71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Бизнес-функциональные требования</a:t>
            </a:r>
            <a:endParaRPr b="1" i="0" sz="2800" u="none" cap="none" strike="noStrike">
              <a:solidFill>
                <a:srgbClr val="9900FF"/>
              </a:solidFill>
              <a:latin typeface="Montserrat"/>
              <a:ea typeface="Montserrat"/>
              <a:cs typeface="Montserrat"/>
              <a:sym typeface="Montserrat"/>
            </a:endParaRPr>
          </a:p>
        </p:txBody>
      </p:sp>
      <p:sp>
        <p:nvSpPr>
          <p:cNvPr id="147" name="Google Shape;147;p9"/>
          <p:cNvSpPr txBox="1"/>
          <p:nvPr/>
        </p:nvSpPr>
        <p:spPr>
          <a:xfrm>
            <a:off x="396675" y="1040750"/>
            <a:ext cx="8155500" cy="215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ru" sz="1400" u="none" cap="none" strike="noStrike">
                <a:solidFill>
                  <a:schemeClr val="dk1"/>
                </a:solidFill>
                <a:latin typeface="Montserrat"/>
                <a:ea typeface="Montserrat"/>
                <a:cs typeface="Montserrat"/>
                <a:sym typeface="Montserrat"/>
              </a:rPr>
              <a:t>Компоненты нашего продукта:</a:t>
            </a:r>
            <a:endParaRPr b="1" i="0" sz="1400" u="none" cap="none" strike="noStrike">
              <a:solidFill>
                <a:schemeClr val="dk1"/>
              </a:solidFill>
              <a:latin typeface="Montserrat"/>
              <a:ea typeface="Montserrat"/>
              <a:cs typeface="Montserrat"/>
              <a:sym typeface="Montserrat"/>
            </a:endParaRPr>
          </a:p>
          <a:p>
            <a:pPr indent="-317500" lvl="0" marL="457200" marR="0" rtl="0" algn="l">
              <a:lnSpc>
                <a:spcPct val="115000"/>
              </a:lnSpc>
              <a:spcBef>
                <a:spcPts val="1000"/>
              </a:spcBef>
              <a:spcAft>
                <a:spcPts val="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Компонент 1 (технология/метод решения)</a:t>
            </a:r>
            <a:endParaRPr b="0" i="0" sz="1400" u="none" cap="none" strike="noStrike">
              <a:solidFill>
                <a:schemeClr val="dk1"/>
              </a:solidFill>
              <a:latin typeface="Montserrat"/>
              <a:ea typeface="Montserrat"/>
              <a:cs typeface="Montserrat"/>
              <a:sym typeface="Montserrat"/>
            </a:endParaRPr>
          </a:p>
          <a:p>
            <a:pPr indent="-317500" lvl="0" marL="457200" marR="0" rtl="0" algn="l">
              <a:lnSpc>
                <a:spcPct val="115000"/>
              </a:lnSpc>
              <a:spcBef>
                <a:spcPts val="1000"/>
              </a:spcBef>
              <a:spcAft>
                <a:spcPts val="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Компонент 2 (технология/метод решения)</a:t>
            </a:r>
            <a:endParaRPr b="0" i="0" sz="1400" u="none" cap="none" strike="noStrike">
              <a:solidFill>
                <a:schemeClr val="dk1"/>
              </a:solidFill>
              <a:latin typeface="Montserrat"/>
              <a:ea typeface="Montserrat"/>
              <a:cs typeface="Montserrat"/>
              <a:sym typeface="Montserrat"/>
            </a:endParaRPr>
          </a:p>
          <a:p>
            <a:pPr indent="-317500" lvl="0" marL="457200" marR="0" rtl="0" algn="l">
              <a:lnSpc>
                <a:spcPct val="115000"/>
              </a:lnSpc>
              <a:spcBef>
                <a:spcPts val="1000"/>
              </a:spcBef>
              <a:spcAft>
                <a:spcPts val="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Компонент 3 (технология/метод решения)</a:t>
            </a:r>
            <a:endParaRPr b="0" i="0" sz="1400" u="none" cap="none" strike="noStrike">
              <a:solidFill>
                <a:schemeClr val="dk1"/>
              </a:solidFill>
              <a:latin typeface="Montserrat"/>
              <a:ea typeface="Montserrat"/>
              <a:cs typeface="Montserrat"/>
              <a:sym typeface="Montserrat"/>
            </a:endParaRPr>
          </a:p>
          <a:p>
            <a:pPr indent="0" lvl="0" marL="0" marR="0" rtl="0" algn="l">
              <a:lnSpc>
                <a:spcPct val="115000"/>
              </a:lnSpc>
              <a:spcBef>
                <a:spcPts val="1000"/>
              </a:spcBef>
              <a:spcAft>
                <a:spcPts val="0"/>
              </a:spcAft>
              <a:buClr>
                <a:srgbClr val="000000"/>
              </a:buClr>
              <a:buSzPts val="1400"/>
              <a:buFont typeface="Arial"/>
              <a:buNone/>
            </a:pPr>
            <a:r>
              <a:rPr b="0" i="1" lang="ru" sz="1400" u="none" cap="none" strike="noStrike">
                <a:solidFill>
                  <a:srgbClr val="980000"/>
                </a:solidFill>
                <a:latin typeface="Montserrat"/>
                <a:ea typeface="Montserrat"/>
                <a:cs typeface="Montserrat"/>
                <a:sym typeface="Montserrat"/>
              </a:rPr>
              <a:t>Опишите выбор технологий реализации компонентов продукта. Можно заменить на иллюстрацию архитектуры сервиса</a:t>
            </a:r>
            <a:endParaRPr b="0" i="0" sz="1400" u="none" cap="none" strike="noStrike">
              <a:solidFill>
                <a:srgbClr val="980000"/>
              </a:solidFill>
              <a:latin typeface="Montserrat"/>
              <a:ea typeface="Montserrat"/>
              <a:cs typeface="Montserrat"/>
              <a:sym typeface="Montserrat"/>
            </a:endParaRPr>
          </a:p>
        </p:txBody>
      </p:sp>
      <p:sp>
        <p:nvSpPr>
          <p:cNvPr id="148" name="Google Shape;148;p9"/>
          <p:cNvSpPr/>
          <p:nvPr/>
        </p:nvSpPr>
        <p:spPr>
          <a:xfrm>
            <a:off x="7189800" y="891425"/>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
        <p:nvSpPr>
          <p:cNvPr id="149" name="Google Shape;149;p9"/>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a:t>
            </a:r>
            <a:r>
              <a:rPr lang="ru" sz="1600" u="sng">
                <a:solidFill>
                  <a:srgbClr val="123194"/>
                </a:solidFill>
                <a:latin typeface="Montserrat"/>
                <a:ea typeface="Montserrat"/>
                <a:cs typeface="Montserrat"/>
                <a:sym typeface="Montserrat"/>
              </a:rPr>
              <a:t>полные БФТ и метод Бордо</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153" name="Shape 153"/>
        <p:cNvGrpSpPr/>
        <p:nvPr/>
      </p:nvGrpSpPr>
      <p:grpSpPr>
        <a:xfrm>
          <a:off x="0" y="0"/>
          <a:ext cx="0" cy="0"/>
          <a:chOff x="0" y="0"/>
          <a:chExt cx="0" cy="0"/>
        </a:xfrm>
      </p:grpSpPr>
      <p:pic>
        <p:nvPicPr>
          <p:cNvPr id="154" name="Google Shape;154;p10"/>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55" name="Google Shape;155;p10"/>
          <p:cNvSpPr txBox="1"/>
          <p:nvPr/>
        </p:nvSpPr>
        <p:spPr>
          <a:xfrm>
            <a:off x="368550" y="279500"/>
            <a:ext cx="8503200" cy="70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*Механика работы продукта</a:t>
            </a:r>
            <a:endParaRPr b="1" i="0" sz="2800" u="none" cap="none" strike="noStrike">
              <a:solidFill>
                <a:srgbClr val="123194"/>
              </a:solidFill>
              <a:latin typeface="Montserrat"/>
              <a:ea typeface="Montserrat"/>
              <a:cs typeface="Montserrat"/>
              <a:sym typeface="Montserrat"/>
            </a:endParaRPr>
          </a:p>
        </p:txBody>
      </p:sp>
      <p:sp>
        <p:nvSpPr>
          <p:cNvPr id="156" name="Google Shape;156;p10"/>
          <p:cNvSpPr txBox="1"/>
          <p:nvPr/>
        </p:nvSpPr>
        <p:spPr>
          <a:xfrm>
            <a:off x="414175" y="1063100"/>
            <a:ext cx="7807800" cy="1519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2000"/>
              <a:buFont typeface="Arial"/>
              <a:buNone/>
            </a:pPr>
            <a:r>
              <a:rPr b="0" i="1" lang="ru" sz="1400" u="none" cap="none" strike="noStrike">
                <a:solidFill>
                  <a:srgbClr val="980000"/>
                </a:solidFill>
                <a:latin typeface="Montserrat"/>
                <a:ea typeface="Montserrat"/>
                <a:cs typeface="Montserrat"/>
                <a:sym typeface="Montserrat"/>
              </a:rPr>
              <a:t>Если вы рассчитали время, добавьте этот кейс, чтобы показать, </a:t>
            </a:r>
            <a:br>
              <a:rPr b="0" i="1" lang="ru" sz="1400" u="none" cap="none" strike="noStrike">
                <a:solidFill>
                  <a:srgbClr val="980000"/>
                </a:solidFill>
                <a:latin typeface="Montserrat"/>
                <a:ea typeface="Montserrat"/>
                <a:cs typeface="Montserrat"/>
                <a:sym typeface="Montserrat"/>
              </a:rPr>
            </a:br>
            <a:r>
              <a:rPr b="0" i="1" lang="ru" sz="1400" u="none" cap="none" strike="noStrike">
                <a:solidFill>
                  <a:srgbClr val="980000"/>
                </a:solidFill>
                <a:latin typeface="Montserrat"/>
                <a:ea typeface="Montserrat"/>
                <a:cs typeface="Montserrat"/>
                <a:sym typeface="Montserrat"/>
              </a:rPr>
              <a:t>как потенциальные потребители будут пользоваться вашим сервисом.</a:t>
            </a:r>
            <a:endParaRPr b="0" i="1" sz="1400" u="none" cap="none" strike="noStrike">
              <a:solidFill>
                <a:srgbClr val="980000"/>
              </a:solidFill>
              <a:latin typeface="Montserrat"/>
              <a:ea typeface="Montserrat"/>
              <a:cs typeface="Montserrat"/>
              <a:sym typeface="Montserrat"/>
            </a:endParaRPr>
          </a:p>
          <a:p>
            <a:pPr indent="0" lvl="0" marL="0" marR="0" rtl="0" algn="l">
              <a:lnSpc>
                <a:spcPct val="115000"/>
              </a:lnSpc>
              <a:spcBef>
                <a:spcPts val="1000"/>
              </a:spcBef>
              <a:spcAft>
                <a:spcPts val="1000"/>
              </a:spcAft>
              <a:buClr>
                <a:schemeClr val="dk1"/>
              </a:buClr>
              <a:buSzPts val="2000"/>
              <a:buFont typeface="Arial"/>
              <a:buNone/>
            </a:pPr>
            <a:r>
              <a:rPr b="0" i="1" lang="ru" sz="1400" u="none" cap="none" strike="noStrike">
                <a:solidFill>
                  <a:srgbClr val="980000"/>
                </a:solidFill>
                <a:latin typeface="Montserrat"/>
                <a:ea typeface="Montserrat"/>
                <a:cs typeface="Montserrat"/>
                <a:sym typeface="Montserrat"/>
              </a:rPr>
              <a:t>Раскройте решение через метод «Механика работы в 3 шага»  — опишите ситуации и проблемы, в которых используется решение, и полученный результат</a:t>
            </a:r>
            <a:endParaRPr b="0" i="1" sz="1400" u="none" cap="none" strike="noStrike">
              <a:solidFill>
                <a:srgbClr val="980000"/>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Объем рынка: TAM, SAM, SOM</a:t>
            </a:r>
            <a:endParaRPr b="1" i="0" sz="2800" u="none" cap="none" strike="noStrike">
              <a:solidFill>
                <a:srgbClr val="123194"/>
              </a:solidFill>
              <a:latin typeface="Montserrat"/>
              <a:ea typeface="Montserrat"/>
              <a:cs typeface="Montserrat"/>
              <a:sym typeface="Montserrat"/>
            </a:endParaRPr>
          </a:p>
        </p:txBody>
      </p:sp>
      <p:sp>
        <p:nvSpPr>
          <p:cNvPr id="162" name="Google Shape;162;p11"/>
          <p:cNvSpPr txBox="1"/>
          <p:nvPr/>
        </p:nvSpPr>
        <p:spPr>
          <a:xfrm>
            <a:off x="464825" y="3156900"/>
            <a:ext cx="7996500" cy="41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100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Графически представьте объемы рынка. Можете использовать инфографику или схему</a:t>
            </a:r>
            <a:endParaRPr b="0" i="1" sz="1200" u="none" cap="none" strike="noStrike">
              <a:solidFill>
                <a:srgbClr val="980000"/>
              </a:solidFill>
              <a:latin typeface="Montserrat"/>
              <a:ea typeface="Montserrat"/>
              <a:cs typeface="Montserrat"/>
              <a:sym typeface="Montserrat"/>
            </a:endParaRPr>
          </a:p>
        </p:txBody>
      </p:sp>
      <p:sp>
        <p:nvSpPr>
          <p:cNvPr id="163" name="Google Shape;163;p11"/>
          <p:cNvSpPr txBox="1"/>
          <p:nvPr/>
        </p:nvSpPr>
        <p:spPr>
          <a:xfrm>
            <a:off x="464825" y="3572400"/>
            <a:ext cx="7996500" cy="1096800"/>
          </a:xfrm>
          <a:prstGeom prst="rect">
            <a:avLst/>
          </a:prstGeom>
          <a:solidFill>
            <a:schemeClr val="lt2"/>
          </a:solid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1" i="0" lang="ru" sz="1000" u="none" cap="none" strike="noStrike">
                <a:solidFill>
                  <a:schemeClr val="dk1"/>
                </a:solidFill>
                <a:latin typeface="Montserrat"/>
                <a:ea typeface="Montserrat"/>
                <a:cs typeface="Montserrat"/>
                <a:sym typeface="Montserrat"/>
              </a:rPr>
              <a:t>Тренды и драйверы роста рынка.</a:t>
            </a:r>
            <a:r>
              <a:rPr b="0" i="0" lang="ru" sz="1000" u="none" cap="none" strike="noStrike">
                <a:solidFill>
                  <a:schemeClr val="dk1"/>
                </a:solidFill>
                <a:latin typeface="Montserrat"/>
                <a:ea typeface="Montserrat"/>
                <a:cs typeface="Montserrat"/>
                <a:sym typeface="Montserrat"/>
              </a:rPr>
              <a:t> </a:t>
            </a:r>
            <a:r>
              <a:rPr b="0" i="1" lang="ru" sz="1000" u="none" cap="none" strike="noStrike">
                <a:solidFill>
                  <a:srgbClr val="980000"/>
                </a:solidFill>
                <a:latin typeface="Montserrat"/>
                <a:ea typeface="Montserrat"/>
                <a:cs typeface="Montserrat"/>
                <a:sym typeface="Montserrat"/>
              </a:rPr>
              <a:t>Приложите</a:t>
            </a:r>
            <a:r>
              <a:rPr b="0" i="0" lang="ru" sz="1000" u="none" cap="none" strike="noStrike">
                <a:solidFill>
                  <a:srgbClr val="980000"/>
                </a:solidFill>
                <a:latin typeface="Montserrat"/>
                <a:ea typeface="Montserrat"/>
                <a:cs typeface="Montserrat"/>
                <a:sym typeface="Montserrat"/>
              </a:rPr>
              <a:t> </a:t>
            </a:r>
            <a:r>
              <a:rPr b="0" i="1" lang="ru" sz="1000" u="sng" cap="none" strike="noStrike">
                <a:solidFill>
                  <a:srgbClr val="980000"/>
                </a:solidFill>
                <a:latin typeface="Montserrat"/>
                <a:ea typeface="Montserrat"/>
                <a:cs typeface="Montserrat"/>
                <a:sym typeface="Montserrat"/>
              </a:rPr>
              <a:t>ссылки на источники</a:t>
            </a:r>
            <a:r>
              <a:rPr b="0" i="1" lang="ru" sz="1000" u="none" cap="none" strike="noStrike">
                <a:solidFill>
                  <a:srgbClr val="980000"/>
                </a:solidFill>
                <a:latin typeface="Montserrat"/>
                <a:ea typeface="Montserrat"/>
                <a:cs typeface="Montserrat"/>
                <a:sym typeface="Montserrat"/>
              </a:rPr>
              <a:t> (отраслевые отчеты, публикации и т. д.). </a:t>
            </a:r>
            <a:br>
              <a:rPr b="0" i="1" lang="ru" sz="1000" u="none" cap="none" strike="noStrike">
                <a:solidFill>
                  <a:srgbClr val="980000"/>
                </a:solidFill>
                <a:latin typeface="Montserrat"/>
                <a:ea typeface="Montserrat"/>
                <a:cs typeface="Montserrat"/>
                <a:sym typeface="Montserrat"/>
              </a:rPr>
            </a:br>
            <a:r>
              <a:rPr b="0" i="1" lang="ru" sz="1000" u="none" cap="none" strike="noStrike">
                <a:solidFill>
                  <a:srgbClr val="980000"/>
                </a:solidFill>
                <a:latin typeface="Montserrat"/>
                <a:ea typeface="Montserrat"/>
                <a:cs typeface="Montserrat"/>
                <a:sym typeface="Montserrat"/>
              </a:rPr>
              <a:t>Эту информацию можно взять из Паспорта: лист «3. Конкурентный анализ», блок «Шаг 3. Общий объем рынка». </a:t>
            </a:r>
            <a:endParaRPr b="0" i="1" sz="1000" u="none" cap="none" strike="noStrike">
              <a:solidFill>
                <a:srgbClr val="980000"/>
              </a:solidFill>
              <a:latin typeface="Montserrat"/>
              <a:ea typeface="Montserrat"/>
              <a:cs typeface="Montserrat"/>
              <a:sym typeface="Montserrat"/>
            </a:endParaRPr>
          </a:p>
          <a:p>
            <a:pPr indent="0" lvl="0" marL="0" marR="0" rtl="0" algn="l">
              <a:lnSpc>
                <a:spcPct val="115000"/>
              </a:lnSpc>
              <a:spcBef>
                <a:spcPts val="1000"/>
              </a:spcBef>
              <a:spcAft>
                <a:spcPts val="1000"/>
              </a:spcAft>
              <a:buClr>
                <a:srgbClr val="000000"/>
              </a:buClr>
              <a:buSzPts val="1000"/>
              <a:buFont typeface="Arial"/>
              <a:buNone/>
            </a:pPr>
            <a:r>
              <a:rPr b="1" i="0" lang="ru" sz="1000" u="none" cap="none" strike="noStrike">
                <a:solidFill>
                  <a:schemeClr val="dk1"/>
                </a:solidFill>
                <a:latin typeface="Montserrat"/>
                <a:ea typeface="Montserrat"/>
                <a:cs typeface="Montserrat"/>
                <a:sym typeface="Montserrat"/>
              </a:rPr>
              <a:t>Подтверждение расчетов.</a:t>
            </a:r>
            <a:r>
              <a:rPr b="1" i="0" lang="ru" sz="1000" u="none" cap="none" strike="noStrike">
                <a:solidFill>
                  <a:schemeClr val="dk2"/>
                </a:solidFill>
                <a:latin typeface="Montserrat"/>
                <a:ea typeface="Montserrat"/>
                <a:cs typeface="Montserrat"/>
                <a:sym typeface="Montserrat"/>
              </a:rPr>
              <a:t> </a:t>
            </a:r>
            <a:r>
              <a:rPr b="0" i="1" lang="ru" sz="1000" u="none" cap="none" strike="noStrike">
                <a:solidFill>
                  <a:srgbClr val="980000"/>
                </a:solidFill>
                <a:latin typeface="Montserrat"/>
                <a:ea typeface="Montserrat"/>
                <a:cs typeface="Montserrat"/>
                <a:sym typeface="Montserrat"/>
              </a:rPr>
              <a:t>Подтвердите расчеты </a:t>
            </a:r>
            <a:r>
              <a:rPr b="0" i="1" lang="ru" sz="1000" u="sng" cap="none" strike="noStrike">
                <a:solidFill>
                  <a:srgbClr val="980000"/>
                </a:solidFill>
                <a:latin typeface="Montserrat"/>
                <a:ea typeface="Montserrat"/>
                <a:cs typeface="Montserrat"/>
                <a:sym typeface="Montserrat"/>
              </a:rPr>
              <a:t>ссылками на Паспорт проекта или отдельный </a:t>
            </a:r>
            <a:br>
              <a:rPr b="0" i="1" lang="ru" sz="1000" u="sng" cap="none" strike="noStrike">
                <a:solidFill>
                  <a:srgbClr val="980000"/>
                </a:solidFill>
                <a:latin typeface="Montserrat"/>
                <a:ea typeface="Montserrat"/>
                <a:cs typeface="Montserrat"/>
                <a:sym typeface="Montserrat"/>
              </a:rPr>
            </a:br>
            <a:r>
              <a:rPr b="0" i="1" lang="ru" sz="1000" u="sng" cap="none" strike="noStrike">
                <a:solidFill>
                  <a:srgbClr val="980000"/>
                </a:solidFill>
                <a:latin typeface="Montserrat"/>
                <a:ea typeface="Montserrat"/>
                <a:cs typeface="Montserrat"/>
                <a:sym typeface="Montserrat"/>
              </a:rPr>
              <a:t>артефакт по расчету</a:t>
            </a:r>
            <a:endParaRPr b="0" i="1" sz="1000" u="sng" cap="none" strike="noStrike">
              <a:solidFill>
                <a:srgbClr val="980000"/>
              </a:solidFill>
              <a:latin typeface="Montserrat"/>
              <a:ea typeface="Montserrat"/>
              <a:cs typeface="Montserrat"/>
              <a:sym typeface="Montserrat"/>
            </a:endParaRPr>
          </a:p>
        </p:txBody>
      </p:sp>
      <p:graphicFrame>
        <p:nvGraphicFramePr>
          <p:cNvPr id="164" name="Google Shape;164;p11"/>
          <p:cNvGraphicFramePr/>
          <p:nvPr/>
        </p:nvGraphicFramePr>
        <p:xfrm>
          <a:off x="462175" y="1139325"/>
          <a:ext cx="3000000" cy="3000000"/>
        </p:xfrm>
        <a:graphic>
          <a:graphicData uri="http://schemas.openxmlformats.org/drawingml/2006/table">
            <a:tbl>
              <a:tblPr>
                <a:noFill/>
                <a:tableStyleId>{FFC42287-9CCA-4F47-93BB-E4E9780593B4}</a:tableStyleId>
              </a:tblPr>
              <a:tblGrid>
                <a:gridCol w="2692650"/>
                <a:gridCol w="2692650"/>
                <a:gridCol w="2692650"/>
              </a:tblGrid>
              <a:tr h="468275">
                <a:tc>
                  <a:txBody>
                    <a:bodyPr/>
                    <a:lstStyle/>
                    <a:p>
                      <a:pPr indent="0" lvl="0" marL="0" marR="0" rtl="0" algn="ctr">
                        <a:lnSpc>
                          <a:spcPct val="100000"/>
                        </a:lnSpc>
                        <a:spcBef>
                          <a:spcPts val="0"/>
                        </a:spcBef>
                        <a:spcAft>
                          <a:spcPts val="0"/>
                        </a:spcAft>
                        <a:buClr>
                          <a:srgbClr val="000000"/>
                        </a:buClr>
                        <a:buSzPts val="1400"/>
                        <a:buFont typeface="Arial"/>
                        <a:buNone/>
                      </a:pPr>
                      <a:r>
                        <a:rPr b="1" lang="ru" sz="1400" u="none" cap="none" strike="noStrike">
                          <a:solidFill>
                            <a:schemeClr val="dk1"/>
                          </a:solidFill>
                          <a:latin typeface="Montserrat"/>
                          <a:ea typeface="Montserrat"/>
                          <a:cs typeface="Montserrat"/>
                          <a:sym typeface="Montserrat"/>
                        </a:rPr>
                        <a:t>TAM</a:t>
                      </a:r>
                      <a:endParaRPr b="1" sz="14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ru" sz="1400" u="none" cap="none" strike="noStrike">
                          <a:solidFill>
                            <a:schemeClr val="dk1"/>
                          </a:solidFill>
                          <a:latin typeface="Montserrat"/>
                          <a:ea typeface="Montserrat"/>
                          <a:cs typeface="Montserrat"/>
                          <a:sym typeface="Montserrat"/>
                        </a:rPr>
                        <a:t>SAM</a:t>
                      </a:r>
                      <a:endParaRPr b="1" sz="14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ru" sz="1400" u="none" cap="none" strike="noStrike">
                          <a:solidFill>
                            <a:schemeClr val="dk1"/>
                          </a:solidFill>
                          <a:latin typeface="Montserrat"/>
                          <a:ea typeface="Montserrat"/>
                          <a:cs typeface="Montserrat"/>
                          <a:sym typeface="Montserrat"/>
                        </a:rPr>
                        <a:t>SOM</a:t>
                      </a:r>
                      <a:endParaRPr b="1" sz="14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r h="1390175">
                <a:tc>
                  <a:txBody>
                    <a:bodyPr/>
                    <a:lstStyle/>
                    <a:p>
                      <a:pPr indent="0" lvl="0" marL="0" marR="0" rtl="0" algn="l">
                        <a:lnSpc>
                          <a:spcPct val="100000"/>
                        </a:lnSpc>
                        <a:spcBef>
                          <a:spcPts val="0"/>
                        </a:spcBef>
                        <a:spcAft>
                          <a:spcPts val="0"/>
                        </a:spcAft>
                        <a:buClr>
                          <a:srgbClr val="000000"/>
                        </a:buClr>
                        <a:buSzPts val="1400"/>
                        <a:buFont typeface="Arial"/>
                        <a:buNone/>
                      </a:pPr>
                      <a:r>
                        <a:rPr lang="ru" sz="1400" u="none" cap="none" strike="noStrike">
                          <a:solidFill>
                            <a:schemeClr val="dk1"/>
                          </a:solidFill>
                          <a:latin typeface="Montserrat"/>
                          <a:ea typeface="Montserrat"/>
                          <a:cs typeface="Montserrat"/>
                          <a:sym typeface="Montserrat"/>
                        </a:rPr>
                        <a:t>Наименование рынка</a:t>
                      </a:r>
                      <a:endParaRPr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CC0000"/>
                          </a:solidFill>
                          <a:latin typeface="Montserrat"/>
                          <a:ea typeface="Montserrat"/>
                          <a:cs typeface="Montserrat"/>
                          <a:sym typeface="Montserrat"/>
                        </a:rPr>
                        <a:t> </a:t>
                      </a:r>
                      <a:r>
                        <a:rPr i="1" lang="ru" sz="1400" u="none" cap="none" strike="noStrike">
                          <a:solidFill>
                            <a:srgbClr val="980000"/>
                          </a:solidFill>
                          <a:latin typeface="Montserrat"/>
                          <a:ea typeface="Montserrat"/>
                          <a:cs typeface="Montserrat"/>
                          <a:sym typeface="Montserrat"/>
                        </a:rPr>
                        <a:t>(в рублях)</a:t>
                      </a:r>
                      <a:endParaRPr i="1" sz="14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CC0000"/>
                          </a:solidFill>
                          <a:latin typeface="Montserrat"/>
                          <a:ea typeface="Montserrat"/>
                          <a:cs typeface="Montserrat"/>
                          <a:sym typeface="Montserrat"/>
                        </a:rPr>
                        <a:t> </a:t>
                      </a:r>
                      <a:r>
                        <a:rPr i="1" lang="ru" sz="1400" u="none" cap="none" strike="noStrike">
                          <a:solidFill>
                            <a:srgbClr val="980000"/>
                          </a:solidFill>
                          <a:latin typeface="Montserrat"/>
                          <a:ea typeface="Montserrat"/>
                          <a:cs typeface="Montserrat"/>
                          <a:sym typeface="Montserrat"/>
                        </a:rPr>
                        <a:t>(в единицах)</a:t>
                      </a:r>
                      <a:endParaRPr i="1" sz="1400" u="none" cap="none" strike="noStrike">
                        <a:solidFill>
                          <a:srgbClr val="98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solidFill>
                          <a:srgbClr val="CC0000"/>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ru" sz="1400" u="none" cap="none" strike="noStrike">
                          <a:solidFill>
                            <a:schemeClr val="dk1"/>
                          </a:solidFill>
                          <a:latin typeface="Montserrat"/>
                          <a:ea typeface="Montserrat"/>
                          <a:cs typeface="Montserrat"/>
                          <a:sym typeface="Montserrat"/>
                        </a:rPr>
                        <a:t>Ниши рынка</a:t>
                      </a:r>
                      <a:endParaRPr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980000"/>
                          </a:solidFill>
                          <a:latin typeface="Montserrat"/>
                          <a:ea typeface="Montserrat"/>
                          <a:cs typeface="Montserrat"/>
                          <a:sym typeface="Montserrat"/>
                        </a:rPr>
                        <a:t> (в рублях)</a:t>
                      </a:r>
                      <a:endParaRPr i="1" sz="14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CC0000"/>
                          </a:solidFill>
                          <a:latin typeface="Montserrat"/>
                          <a:ea typeface="Montserrat"/>
                          <a:cs typeface="Montserrat"/>
                          <a:sym typeface="Montserrat"/>
                        </a:rPr>
                        <a:t> </a:t>
                      </a:r>
                      <a:r>
                        <a:rPr i="1" lang="ru" sz="1400" u="none" cap="none" strike="noStrike">
                          <a:solidFill>
                            <a:srgbClr val="980000"/>
                          </a:solidFill>
                          <a:latin typeface="Montserrat"/>
                          <a:ea typeface="Montserrat"/>
                          <a:cs typeface="Montserrat"/>
                          <a:sym typeface="Montserrat"/>
                        </a:rPr>
                        <a:t>(в единицах)</a:t>
                      </a:r>
                      <a:endParaRPr i="1" sz="1400" u="none" cap="none" strike="noStrike">
                        <a:solidFill>
                          <a:srgbClr val="980000"/>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ru" sz="1400" u="none" cap="none" strike="noStrike">
                          <a:solidFill>
                            <a:schemeClr val="dk1"/>
                          </a:solidFill>
                          <a:latin typeface="Montserrat"/>
                          <a:ea typeface="Montserrat"/>
                          <a:cs typeface="Montserrat"/>
                          <a:sym typeface="Montserrat"/>
                        </a:rPr>
                        <a:t>Ниши рынка</a:t>
                      </a:r>
                      <a:endParaRPr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CC0000"/>
                          </a:solidFill>
                          <a:latin typeface="Montserrat"/>
                          <a:ea typeface="Montserrat"/>
                          <a:cs typeface="Montserrat"/>
                          <a:sym typeface="Montserrat"/>
                        </a:rPr>
                        <a:t> </a:t>
                      </a:r>
                      <a:r>
                        <a:rPr i="1" lang="ru" sz="1400" u="none" cap="none" strike="noStrike">
                          <a:solidFill>
                            <a:srgbClr val="980000"/>
                          </a:solidFill>
                          <a:latin typeface="Montserrat"/>
                          <a:ea typeface="Montserrat"/>
                          <a:cs typeface="Montserrat"/>
                          <a:sym typeface="Montserrat"/>
                        </a:rPr>
                        <a:t>(в рублях)</a:t>
                      </a:r>
                      <a:endParaRPr i="1" sz="1400" u="none" cap="none" strike="noStrike">
                        <a:solidFill>
                          <a:srgbClr val="98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i="1" sz="1400" u="none" cap="none" strike="noStrike">
                        <a:solidFill>
                          <a:srgbClr val="CC0000"/>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i="1" lang="ru" sz="1400" u="none" cap="none" strike="noStrike">
                          <a:solidFill>
                            <a:schemeClr val="dk1"/>
                          </a:solidFill>
                          <a:latin typeface="Montserrat"/>
                          <a:ea typeface="Montserrat"/>
                          <a:cs typeface="Montserrat"/>
                          <a:sym typeface="Montserrat"/>
                        </a:rPr>
                        <a:t>__________</a:t>
                      </a:r>
                      <a:r>
                        <a:rPr i="1" lang="ru" sz="1400" u="none" cap="none" strike="noStrike">
                          <a:solidFill>
                            <a:srgbClr val="CC0000"/>
                          </a:solidFill>
                          <a:latin typeface="Montserrat"/>
                          <a:ea typeface="Montserrat"/>
                          <a:cs typeface="Montserrat"/>
                          <a:sym typeface="Montserrat"/>
                        </a:rPr>
                        <a:t> </a:t>
                      </a:r>
                      <a:r>
                        <a:rPr i="1" lang="ru" sz="1400" u="none" cap="none" strike="noStrike">
                          <a:solidFill>
                            <a:srgbClr val="980000"/>
                          </a:solidFill>
                          <a:latin typeface="Montserrat"/>
                          <a:ea typeface="Montserrat"/>
                          <a:cs typeface="Montserrat"/>
                          <a:sym typeface="Montserrat"/>
                        </a:rPr>
                        <a:t>(в единицах)</a:t>
                      </a:r>
                      <a:endParaRPr i="1" sz="1400" u="none" cap="none" strike="noStrike">
                        <a:solidFill>
                          <a:srgbClr val="980000"/>
                        </a:solidFill>
                        <a:latin typeface="Montserrat"/>
                        <a:ea typeface="Montserrat"/>
                        <a:cs typeface="Montserrat"/>
                        <a:sym typeface="Montserrat"/>
                      </a:endParaRPr>
                    </a:p>
                  </a:txBody>
                  <a:tcPr marT="91425" marB="91425" marR="91425" marL="91425">
                    <a:lnL cap="flat" cmpd="sng" w="9525">
                      <a:solidFill>
                        <a:srgbClr val="123194"/>
                      </a:solidFill>
                      <a:prstDash val="solid"/>
                      <a:round/>
                      <a:headEnd len="sm" w="sm" type="none"/>
                      <a:tailEnd len="sm" w="sm" type="none"/>
                    </a:lnL>
                    <a:lnR cap="flat" cmpd="sng" w="9525">
                      <a:solidFill>
                        <a:srgbClr val="123194"/>
                      </a:solidFill>
                      <a:prstDash val="solid"/>
                      <a:round/>
                      <a:headEnd len="sm" w="sm" type="none"/>
                      <a:tailEnd len="sm" w="sm" type="none"/>
                    </a:lnR>
                    <a:lnT cap="flat" cmpd="sng" w="9525">
                      <a:solidFill>
                        <a:srgbClr val="123194"/>
                      </a:solidFill>
                      <a:prstDash val="solid"/>
                      <a:round/>
                      <a:headEnd len="sm" w="sm" type="none"/>
                      <a:tailEnd len="sm" w="sm" type="none"/>
                    </a:lnT>
                    <a:lnB cap="flat" cmpd="sng" w="9525">
                      <a:solidFill>
                        <a:srgbClr val="123194"/>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pic>
        <p:nvPicPr>
          <p:cNvPr id="169" name="Google Shape;169;p12"/>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70" name="Google Shape;170;p12"/>
          <p:cNvSpPr txBox="1"/>
          <p:nvPr/>
        </p:nvSpPr>
        <p:spPr>
          <a:xfrm>
            <a:off x="368554" y="284075"/>
            <a:ext cx="41631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Демо прототипа </a:t>
            </a:r>
            <a:endParaRPr b="1" i="0" sz="2800" u="none" cap="none" strike="noStrike">
              <a:solidFill>
                <a:srgbClr val="123194"/>
              </a:solidFill>
              <a:latin typeface="Montserrat"/>
              <a:ea typeface="Montserrat"/>
              <a:cs typeface="Montserrat"/>
              <a:sym typeface="Montserrat"/>
            </a:endParaRPr>
          </a:p>
        </p:txBody>
      </p:sp>
      <p:sp>
        <p:nvSpPr>
          <p:cNvPr id="171" name="Google Shape;171;p12"/>
          <p:cNvSpPr/>
          <p:nvPr/>
        </p:nvSpPr>
        <p:spPr>
          <a:xfrm>
            <a:off x="459850" y="1572625"/>
            <a:ext cx="8080500" cy="27675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2"/>
          <p:cNvSpPr txBox="1"/>
          <p:nvPr/>
        </p:nvSpPr>
        <p:spPr>
          <a:xfrm>
            <a:off x="2914972" y="224200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 прототипа/MVP</a:t>
            </a:r>
            <a:endParaRPr b="0" i="0" sz="2500" u="none" cap="none" strike="noStrike">
              <a:solidFill>
                <a:schemeClr val="dk1"/>
              </a:solidFill>
              <a:latin typeface="Montserrat"/>
              <a:ea typeface="Montserrat"/>
              <a:cs typeface="Montserrat"/>
              <a:sym typeface="Montserrat"/>
            </a:endParaRPr>
          </a:p>
        </p:txBody>
      </p:sp>
      <p:sp>
        <p:nvSpPr>
          <p:cNvPr id="173" name="Google Shape;173;p12"/>
          <p:cNvSpPr txBox="1"/>
          <p:nvPr/>
        </p:nvSpPr>
        <p:spPr>
          <a:xfrm>
            <a:off x="388625" y="982600"/>
            <a:ext cx="79707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sng" cap="none" strike="noStrike">
                <a:solidFill>
                  <a:srgbClr val="123194"/>
                </a:solidFill>
                <a:latin typeface="Montserrat"/>
                <a:ea typeface="Montserrat"/>
                <a:cs typeface="Montserrat"/>
                <a:sym typeface="Montserrat"/>
              </a:rPr>
              <a:t>Ссылка на прототип</a:t>
            </a:r>
            <a:endParaRPr b="0" i="0" sz="18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nvSpPr>
        <p:spPr>
          <a:xfrm>
            <a:off x="383650" y="3672350"/>
            <a:ext cx="80043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1" lang="ru" sz="1400" u="none" cap="none" strike="noStrike">
                <a:solidFill>
                  <a:srgbClr val="CC0000"/>
                </a:solidFill>
                <a:latin typeface="Montserrat"/>
                <a:ea typeface="Montserrat"/>
                <a:cs typeface="Montserrat"/>
                <a:sym typeface="Montserrat"/>
              </a:rPr>
              <a:t>Используйте информацию из листа «5. Расчет рынка и бизнес-модель», </a:t>
            </a:r>
            <a:br>
              <a:rPr b="0" i="1" lang="ru" sz="1400" u="none" cap="none" strike="noStrike">
                <a:solidFill>
                  <a:srgbClr val="CC0000"/>
                </a:solidFill>
                <a:latin typeface="Montserrat"/>
                <a:ea typeface="Montserrat"/>
                <a:cs typeface="Montserrat"/>
                <a:sym typeface="Montserrat"/>
              </a:rPr>
            </a:br>
            <a:r>
              <a:rPr b="0" i="1" lang="ru" sz="1400" u="none" cap="none" strike="noStrike">
                <a:solidFill>
                  <a:srgbClr val="CC0000"/>
                </a:solidFill>
                <a:latin typeface="Montserrat"/>
                <a:ea typeface="Montserrat"/>
                <a:cs typeface="Montserrat"/>
                <a:sym typeface="Montserrat"/>
              </a:rPr>
              <a:t>но перенесите информацию в емких формулировках</a:t>
            </a:r>
            <a:endParaRPr b="0" i="1" sz="1400" u="none" cap="none" strike="noStrike">
              <a:solidFill>
                <a:srgbClr val="CC0000"/>
              </a:solidFill>
              <a:latin typeface="Montserrat"/>
              <a:ea typeface="Montserrat"/>
              <a:cs typeface="Montserrat"/>
              <a:sym typeface="Montserrat"/>
            </a:endParaRPr>
          </a:p>
        </p:txBody>
      </p:sp>
      <p:sp>
        <p:nvSpPr>
          <p:cNvPr id="179" name="Google Shape;179;p13"/>
          <p:cNvSpPr txBox="1"/>
          <p:nvPr/>
        </p:nvSpPr>
        <p:spPr>
          <a:xfrm>
            <a:off x="350325" y="290150"/>
            <a:ext cx="8167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Бизнес-модель</a:t>
            </a:r>
            <a:endParaRPr b="1" i="0" sz="2800" u="none" cap="none" strike="noStrike">
              <a:solidFill>
                <a:srgbClr val="123194"/>
              </a:solidFill>
              <a:latin typeface="Montserrat"/>
              <a:ea typeface="Montserrat"/>
              <a:cs typeface="Montserrat"/>
              <a:sym typeface="Montserrat"/>
            </a:endParaRPr>
          </a:p>
        </p:txBody>
      </p:sp>
      <p:sp>
        <p:nvSpPr>
          <p:cNvPr id="180" name="Google Shape;180;p13"/>
          <p:cNvSpPr/>
          <p:nvPr/>
        </p:nvSpPr>
        <p:spPr>
          <a:xfrm>
            <a:off x="4410850" y="1139300"/>
            <a:ext cx="4385700" cy="25332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111600" spcFirstLastPara="1" rIns="182875"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400" u="none" cap="none" strike="noStrike">
                <a:solidFill>
                  <a:schemeClr val="dk1"/>
                </a:solidFill>
                <a:latin typeface="Montserrat"/>
                <a:ea typeface="Montserrat"/>
                <a:cs typeface="Montserrat"/>
                <a:sym typeface="Montserrat"/>
              </a:rPr>
              <a:t>Потоки доходов</a:t>
            </a:r>
            <a:endParaRPr b="1"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70C0"/>
              </a:buClr>
              <a:buSzPts val="2400"/>
              <a:buFont typeface="Arial"/>
              <a:buNone/>
            </a:pPr>
            <a:r>
              <a:t/>
            </a:r>
            <a:endParaRPr b="1"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400"/>
              <a:buFont typeface="Arial"/>
              <a:buNone/>
            </a:pPr>
            <a:r>
              <a:rPr b="0" i="1" lang="ru" sz="1400" u="none" cap="none" strike="noStrike">
                <a:solidFill>
                  <a:srgbClr val="980000"/>
                </a:solidFill>
                <a:latin typeface="Montserrat"/>
                <a:ea typeface="Montserrat"/>
                <a:cs typeface="Montserrat"/>
                <a:sym typeface="Montserrat"/>
              </a:rPr>
              <a:t>Не приводите конкретные цифры, достаточно кратко перечислить предполагаемые </a:t>
            </a:r>
            <a:r>
              <a:rPr i="1" lang="ru" sz="1400" u="none" cap="none" strike="noStrike">
                <a:solidFill>
                  <a:srgbClr val="980000"/>
                </a:solidFill>
                <a:latin typeface="Montserrat"/>
                <a:ea typeface="Montserrat"/>
                <a:cs typeface="Montserrat"/>
                <a:sym typeface="Montserrat"/>
              </a:rPr>
              <a:t>способы дохода </a:t>
            </a:r>
            <a:br>
              <a:rPr i="1" lang="ru" sz="1400" u="none" cap="none" strike="noStrike">
                <a:solidFill>
                  <a:srgbClr val="980000"/>
                </a:solidFill>
                <a:latin typeface="Montserrat"/>
                <a:ea typeface="Montserrat"/>
                <a:cs typeface="Montserrat"/>
                <a:sym typeface="Montserrat"/>
              </a:rPr>
            </a:br>
            <a:r>
              <a:rPr i="1" lang="ru" sz="1400" u="none" cap="none" strike="noStrike">
                <a:solidFill>
                  <a:srgbClr val="980000"/>
                </a:solidFill>
                <a:latin typeface="Montserrat"/>
                <a:ea typeface="Montserrat"/>
                <a:cs typeface="Montserrat"/>
                <a:sym typeface="Montserrat"/>
              </a:rPr>
              <a:t>от продукта</a:t>
            </a:r>
            <a:r>
              <a:rPr b="0" i="1" lang="ru" sz="1400" u="none" cap="none" strike="noStrike">
                <a:solidFill>
                  <a:srgbClr val="980000"/>
                </a:solidFill>
                <a:latin typeface="Montserrat"/>
                <a:ea typeface="Montserrat"/>
                <a:cs typeface="Montserrat"/>
                <a:sym typeface="Montserrat"/>
              </a:rPr>
              <a:t>: подписки, продажа десктопного решения и т. д.</a:t>
            </a:r>
            <a:endParaRPr i="1">
              <a:solidFill>
                <a:srgbClr val="980000"/>
              </a:solidFill>
              <a:latin typeface="Montserrat"/>
              <a:ea typeface="Montserrat"/>
              <a:cs typeface="Montserrat"/>
              <a:sym typeface="Montserrat"/>
            </a:endParaRPr>
          </a:p>
          <a:p>
            <a:pPr indent="-317500" lvl="0" marL="457200" marR="0" rtl="0" algn="l">
              <a:lnSpc>
                <a:spcPct val="100000"/>
              </a:lnSpc>
              <a:spcBef>
                <a:spcPts val="0"/>
              </a:spcBef>
              <a:spcAft>
                <a:spcPts val="0"/>
              </a:spcAft>
              <a:buClr>
                <a:schemeClr val="dk1"/>
              </a:buClr>
              <a:buSzPts val="1400"/>
              <a:buFont typeface="Montserrat"/>
              <a:buChar char="-"/>
            </a:pPr>
            <a:r>
              <a:rPr lang="ru">
                <a:solidFill>
                  <a:schemeClr val="dk1"/>
                </a:solidFill>
                <a:latin typeface="Montserrat"/>
                <a:ea typeface="Montserrat"/>
                <a:cs typeface="Montserrat"/>
                <a:sym typeface="Montserrat"/>
              </a:rPr>
              <a:t>Стоимость решения задачи</a:t>
            </a:r>
            <a:r>
              <a:rPr lang="ru">
                <a:solidFill>
                  <a:schemeClr val="dk1"/>
                </a:solidFill>
                <a:latin typeface="Montserrat"/>
                <a:ea typeface="Montserrat"/>
                <a:cs typeface="Montserrat"/>
                <a:sym typeface="Montserrat"/>
              </a:rPr>
              <a:t>:__________</a:t>
            </a:r>
            <a:endParaRPr>
              <a:solidFill>
                <a:schemeClr val="dk1"/>
              </a:solidFill>
              <a:latin typeface="Montserrat"/>
              <a:ea typeface="Montserrat"/>
              <a:cs typeface="Montserrat"/>
              <a:sym typeface="Montserrat"/>
            </a:endParaRPr>
          </a:p>
          <a:p>
            <a:pPr indent="-317500" lvl="0" marL="457200" marR="0" rtl="0" algn="l">
              <a:lnSpc>
                <a:spcPct val="100000"/>
              </a:lnSpc>
              <a:spcBef>
                <a:spcPts val="0"/>
              </a:spcBef>
              <a:spcAft>
                <a:spcPts val="0"/>
              </a:spcAft>
              <a:buClr>
                <a:schemeClr val="dk1"/>
              </a:buClr>
              <a:buSzPts val="1400"/>
              <a:buFont typeface="Montserrat"/>
              <a:buChar char="-"/>
            </a:pPr>
            <a:r>
              <a:rPr lang="ru">
                <a:solidFill>
                  <a:schemeClr val="dk1"/>
                </a:solidFill>
                <a:latin typeface="Montserrat"/>
                <a:ea typeface="Montserrat"/>
                <a:cs typeface="Montserrat"/>
                <a:sym typeface="Montserrat"/>
              </a:rPr>
              <a:t>Монетизация и тариф прямых конкурентов:____________</a:t>
            </a:r>
            <a:endParaRPr>
              <a:solidFill>
                <a:schemeClr val="dk1"/>
              </a:solidFill>
              <a:latin typeface="Montserrat"/>
              <a:ea typeface="Montserrat"/>
              <a:cs typeface="Montserrat"/>
              <a:sym typeface="Montserrat"/>
            </a:endParaRPr>
          </a:p>
          <a:p>
            <a:pPr indent="-317500" lvl="0" marL="457200" marR="0" rtl="0" algn="l">
              <a:lnSpc>
                <a:spcPct val="100000"/>
              </a:lnSpc>
              <a:spcBef>
                <a:spcPts val="0"/>
              </a:spcBef>
              <a:spcAft>
                <a:spcPts val="0"/>
              </a:spcAft>
              <a:buClr>
                <a:schemeClr val="dk1"/>
              </a:buClr>
              <a:buSzPts val="1400"/>
              <a:buFont typeface="Montserrat"/>
              <a:buChar char="-"/>
            </a:pPr>
            <a:r>
              <a:rPr lang="ru">
                <a:solidFill>
                  <a:schemeClr val="dk1"/>
                </a:solidFill>
                <a:latin typeface="Montserrat"/>
                <a:ea typeface="Montserrat"/>
                <a:cs typeface="Montserrat"/>
                <a:sym typeface="Montserrat"/>
              </a:rPr>
              <a:t>Способ монетизации проекта:_________</a:t>
            </a:r>
            <a:endParaRPr>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38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181" name="Google Shape;181;p13"/>
          <p:cNvSpPr/>
          <p:nvPr/>
        </p:nvSpPr>
        <p:spPr>
          <a:xfrm>
            <a:off x="459850" y="1139300"/>
            <a:ext cx="3951000" cy="25332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111600" spcFirstLastPara="1" rIns="182875"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400" u="none" cap="none" strike="noStrike">
                <a:solidFill>
                  <a:schemeClr val="dk1"/>
                </a:solidFill>
                <a:latin typeface="Montserrat"/>
                <a:ea typeface="Montserrat"/>
                <a:cs typeface="Montserrat"/>
                <a:sym typeface="Montserrat"/>
              </a:rPr>
              <a:t>Структура затрат</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70C0"/>
              </a:buClr>
              <a:buSzPts val="2400"/>
              <a:buFont typeface="Arial"/>
              <a:buNone/>
            </a:pPr>
            <a:r>
              <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400"/>
              <a:buFont typeface="Arial"/>
              <a:buNone/>
            </a:pPr>
            <a:r>
              <a:rPr b="0" i="1" lang="ru" sz="1400" u="none" cap="none" strike="noStrike">
                <a:solidFill>
                  <a:srgbClr val="980000"/>
                </a:solidFill>
                <a:latin typeface="Montserrat"/>
                <a:ea typeface="Montserrat"/>
                <a:cs typeface="Montserrat"/>
                <a:sym typeface="Montserrat"/>
              </a:rPr>
              <a:t>Не приводите конкретные цифры, достаточно кратко перечислить статьи затрат: ФОТ, лицензии специального ПО и т. д.</a:t>
            </a:r>
            <a:endParaRPr b="0" i="1" sz="1400" u="none" cap="none" strike="noStrike">
              <a:solidFill>
                <a:srgbClr val="980000"/>
              </a:solidFill>
              <a:latin typeface="Montserrat"/>
              <a:ea typeface="Montserrat"/>
              <a:cs typeface="Montserrat"/>
              <a:sym typeface="Montserrat"/>
            </a:endParaRPr>
          </a:p>
        </p:txBody>
      </p:sp>
      <p:pic>
        <p:nvPicPr>
          <p:cNvPr id="182" name="Google Shape;182;p13"/>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183" name="Google Shape;183;p13"/>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
        <p:nvSpPr>
          <p:cNvPr id="184" name="Google Shape;184;p13"/>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полн</a:t>
            </a:r>
            <a:r>
              <a:rPr lang="ru" sz="1600" u="sng">
                <a:solidFill>
                  <a:srgbClr val="123194"/>
                </a:solidFill>
                <a:latin typeface="Montserrat"/>
                <a:ea typeface="Montserrat"/>
                <a:cs typeface="Montserrat"/>
                <a:sym typeface="Montserrat"/>
              </a:rPr>
              <a:t>ую модель</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nvSpPr>
        <p:spPr>
          <a:xfrm>
            <a:off x="357700" y="4325150"/>
            <a:ext cx="8030100" cy="41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Используйте лист «5. Расчет рынка и бизнес-модель», но перенесите в емких формулировках</a:t>
            </a:r>
            <a:endParaRPr b="0" i="1" sz="1200" u="none" cap="none" strike="noStrike">
              <a:solidFill>
                <a:srgbClr val="980000"/>
              </a:solidFill>
              <a:latin typeface="Montserrat"/>
              <a:ea typeface="Montserrat"/>
              <a:cs typeface="Montserrat"/>
              <a:sym typeface="Montserrat"/>
            </a:endParaRPr>
          </a:p>
        </p:txBody>
      </p:sp>
      <p:sp>
        <p:nvSpPr>
          <p:cNvPr id="190" name="Google Shape;190;p14"/>
          <p:cNvSpPr/>
          <p:nvPr/>
        </p:nvSpPr>
        <p:spPr>
          <a:xfrm>
            <a:off x="2060275" y="2672075"/>
            <a:ext cx="1626300" cy="15816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Ключевые ресурсы</a:t>
            </a:r>
            <a:endParaRPr b="0" i="0" sz="1000" u="none" cap="none" strike="noStrike">
              <a:solidFill>
                <a:schemeClr val="dk1"/>
              </a:solidFill>
              <a:latin typeface="Montserrat"/>
              <a:ea typeface="Montserrat"/>
              <a:cs typeface="Montserrat"/>
              <a:sym typeface="Montserrat"/>
            </a:endParaRPr>
          </a:p>
        </p:txBody>
      </p:sp>
      <p:sp>
        <p:nvSpPr>
          <p:cNvPr id="191" name="Google Shape;191;p14"/>
          <p:cNvSpPr/>
          <p:nvPr/>
        </p:nvSpPr>
        <p:spPr>
          <a:xfrm>
            <a:off x="2060275" y="1148450"/>
            <a:ext cx="1626300" cy="15237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Ключевые действия</a:t>
            </a:r>
            <a:endParaRPr b="0" i="0" sz="1000" u="none" cap="none" strike="noStrike">
              <a:solidFill>
                <a:schemeClr val="dk1"/>
              </a:solidFill>
              <a:latin typeface="Montserrat"/>
              <a:ea typeface="Montserrat"/>
              <a:cs typeface="Montserrat"/>
              <a:sym typeface="Montserrat"/>
            </a:endParaRPr>
          </a:p>
        </p:txBody>
      </p:sp>
      <p:sp>
        <p:nvSpPr>
          <p:cNvPr id="192" name="Google Shape;192;p14"/>
          <p:cNvSpPr/>
          <p:nvPr/>
        </p:nvSpPr>
        <p:spPr>
          <a:xfrm>
            <a:off x="3660975" y="1148450"/>
            <a:ext cx="1626300" cy="31053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Ценностное предложение</a:t>
            </a:r>
            <a:endParaRPr b="0" i="0" sz="1100" u="none" cap="none" strike="noStrike">
              <a:solidFill>
                <a:schemeClr val="dk1"/>
              </a:solidFill>
              <a:latin typeface="Montserrat"/>
              <a:ea typeface="Montserrat"/>
              <a:cs typeface="Montserrat"/>
              <a:sym typeface="Montserrat"/>
            </a:endParaRPr>
          </a:p>
        </p:txBody>
      </p:sp>
      <p:sp>
        <p:nvSpPr>
          <p:cNvPr id="193" name="Google Shape;193;p14"/>
          <p:cNvSpPr/>
          <p:nvPr/>
        </p:nvSpPr>
        <p:spPr>
          <a:xfrm>
            <a:off x="433900" y="3191680"/>
            <a:ext cx="1626300" cy="575100"/>
          </a:xfrm>
          <a:prstGeom prst="roundRect">
            <a:avLst>
              <a:gd fmla="val 0" name="adj"/>
            </a:avLst>
          </a:prstGeom>
          <a:solidFill>
            <a:srgbClr val="FFFFFF"/>
          </a:solidFill>
          <a:ln cap="flat" cmpd="sng" w="9525">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0000"/>
              </a:buClr>
              <a:buSzPts val="1100"/>
              <a:buFont typeface="Arial"/>
              <a:buNone/>
            </a:pPr>
            <a:r>
              <a:rPr b="0" i="0" lang="ru" sz="800" u="none" cap="none" strike="noStrike">
                <a:solidFill>
                  <a:srgbClr val="000000"/>
                </a:solidFill>
                <a:latin typeface="Montserrat"/>
                <a:ea typeface="Montserrat"/>
                <a:cs typeface="Montserrat"/>
                <a:sym typeface="Montserrat"/>
              </a:rPr>
              <a:t>Existing Alternative</a:t>
            </a:r>
            <a:endParaRPr b="0" i="0" sz="800" u="none" cap="none" strike="noStrike">
              <a:solidFill>
                <a:srgbClr val="000000"/>
              </a:solidFill>
              <a:latin typeface="Montserrat"/>
              <a:ea typeface="Montserrat"/>
              <a:cs typeface="Montserrat"/>
              <a:sym typeface="Montserrat"/>
            </a:endParaRPr>
          </a:p>
        </p:txBody>
      </p:sp>
      <p:sp>
        <p:nvSpPr>
          <p:cNvPr id="194" name="Google Shape;194;p14"/>
          <p:cNvSpPr/>
          <p:nvPr/>
        </p:nvSpPr>
        <p:spPr>
          <a:xfrm>
            <a:off x="6888014" y="3191680"/>
            <a:ext cx="1626300" cy="575100"/>
          </a:xfrm>
          <a:prstGeom prst="roundRect">
            <a:avLst>
              <a:gd fmla="val 0" name="adj"/>
            </a:avLst>
          </a:prstGeom>
          <a:solidFill>
            <a:srgbClr val="FFFFFF"/>
          </a:solidFill>
          <a:ln cap="flat" cmpd="sng" w="9525">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0000"/>
              </a:buClr>
              <a:buSzPts val="1100"/>
              <a:buFont typeface="Arial"/>
              <a:buNone/>
            </a:pPr>
            <a:r>
              <a:rPr b="0" i="0" lang="ru" sz="800" u="none" cap="none" strike="noStrike">
                <a:solidFill>
                  <a:srgbClr val="000000"/>
                </a:solidFill>
                <a:latin typeface="Montserrat"/>
                <a:ea typeface="Montserrat"/>
                <a:cs typeface="Montserrat"/>
                <a:sym typeface="Montserrat"/>
              </a:rPr>
              <a:t>Early Adopters</a:t>
            </a:r>
            <a:endParaRPr b="0" i="0" sz="800" u="none" cap="none" strike="noStrike">
              <a:solidFill>
                <a:srgbClr val="000000"/>
              </a:solidFill>
              <a:latin typeface="Montserrat"/>
              <a:ea typeface="Montserrat"/>
              <a:cs typeface="Montserrat"/>
              <a:sym typeface="Montserrat"/>
            </a:endParaRPr>
          </a:p>
        </p:txBody>
      </p:sp>
      <p:sp>
        <p:nvSpPr>
          <p:cNvPr id="195" name="Google Shape;195;p14"/>
          <p:cNvSpPr/>
          <p:nvPr/>
        </p:nvSpPr>
        <p:spPr>
          <a:xfrm>
            <a:off x="433900" y="1148450"/>
            <a:ext cx="1626300" cy="31053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Ключевые партнеры</a:t>
            </a:r>
            <a:endParaRPr b="0" i="0" sz="900" u="none" cap="none" strike="noStrike">
              <a:solidFill>
                <a:schemeClr val="dk1"/>
              </a:solidFill>
              <a:latin typeface="Montserrat"/>
              <a:ea typeface="Montserrat"/>
              <a:cs typeface="Montserrat"/>
              <a:sym typeface="Montserrat"/>
            </a:endParaRPr>
          </a:p>
        </p:txBody>
      </p:sp>
      <p:sp>
        <p:nvSpPr>
          <p:cNvPr id="196" name="Google Shape;196;p14"/>
          <p:cNvSpPr/>
          <p:nvPr/>
        </p:nvSpPr>
        <p:spPr>
          <a:xfrm>
            <a:off x="5287350" y="1148450"/>
            <a:ext cx="1626300" cy="15237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Взаимоотношения </a:t>
            </a:r>
            <a:br>
              <a:rPr b="1" i="0" lang="ru" sz="1100" u="none" cap="none" strike="noStrike">
                <a:solidFill>
                  <a:schemeClr val="dk1"/>
                </a:solidFill>
                <a:latin typeface="Montserrat"/>
                <a:ea typeface="Montserrat"/>
                <a:cs typeface="Montserrat"/>
                <a:sym typeface="Montserrat"/>
              </a:rPr>
            </a:br>
            <a:r>
              <a:rPr b="1" i="0" lang="ru" sz="1100" u="none" cap="none" strike="noStrike">
                <a:solidFill>
                  <a:schemeClr val="dk1"/>
                </a:solidFill>
                <a:latin typeface="Montserrat"/>
                <a:ea typeface="Montserrat"/>
                <a:cs typeface="Montserrat"/>
                <a:sym typeface="Montserrat"/>
              </a:rPr>
              <a:t>с клиентами</a:t>
            </a:r>
            <a:endParaRPr b="0" i="0" sz="1100" u="none" cap="none" strike="noStrike">
              <a:solidFill>
                <a:schemeClr val="dk1"/>
              </a:solidFill>
              <a:latin typeface="Montserrat"/>
              <a:ea typeface="Montserrat"/>
              <a:cs typeface="Montserrat"/>
              <a:sym typeface="Montserrat"/>
            </a:endParaRPr>
          </a:p>
        </p:txBody>
      </p:sp>
      <p:sp>
        <p:nvSpPr>
          <p:cNvPr id="197" name="Google Shape;197;p14"/>
          <p:cNvSpPr/>
          <p:nvPr/>
        </p:nvSpPr>
        <p:spPr>
          <a:xfrm>
            <a:off x="5287350" y="2672075"/>
            <a:ext cx="1626300" cy="15816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Каналы сбыта</a:t>
            </a:r>
            <a:endParaRPr b="0" i="0" sz="1000" u="none" cap="none" strike="noStrike">
              <a:solidFill>
                <a:schemeClr val="dk1"/>
              </a:solidFill>
              <a:latin typeface="Montserrat"/>
              <a:ea typeface="Montserrat"/>
              <a:cs typeface="Montserrat"/>
              <a:sym typeface="Montserrat"/>
            </a:endParaRPr>
          </a:p>
        </p:txBody>
      </p:sp>
      <p:sp>
        <p:nvSpPr>
          <p:cNvPr id="198" name="Google Shape;198;p14"/>
          <p:cNvSpPr/>
          <p:nvPr/>
        </p:nvSpPr>
        <p:spPr>
          <a:xfrm>
            <a:off x="6913725" y="1148450"/>
            <a:ext cx="1626300" cy="3105300"/>
          </a:xfrm>
          <a:prstGeom prst="roundRect">
            <a:avLst>
              <a:gd fmla="val 0" name="adj"/>
            </a:avLst>
          </a:prstGeom>
          <a:solidFill>
            <a:srgbClr val="FFFFFF"/>
          </a:solidFill>
          <a:ln cap="flat" cmpd="sng" w="19050">
            <a:solidFill>
              <a:srgbClr val="123194"/>
            </a:solidFill>
            <a:prstDash val="solid"/>
            <a:round/>
            <a:headEnd len="sm" w="sm" type="none"/>
            <a:tailEnd len="sm" w="sm" type="none"/>
          </a:ln>
        </p:spPr>
        <p:txBody>
          <a:bodyPr anchorCtr="0" anchor="t" bIns="45700" lIns="75600" spcFirstLastPara="1" rIns="75600" wrap="square" tIns="64800">
            <a:noAutofit/>
          </a:bodyPr>
          <a:lstStyle/>
          <a:p>
            <a:pPr indent="0" lvl="0" marL="0" marR="0" rtl="0" algn="l">
              <a:lnSpc>
                <a:spcPct val="100000"/>
              </a:lnSpc>
              <a:spcBef>
                <a:spcPts val="0"/>
              </a:spcBef>
              <a:spcAft>
                <a:spcPts val="0"/>
              </a:spcAft>
              <a:buClr>
                <a:srgbClr val="0070C0"/>
              </a:buClr>
              <a:buSzPts val="2400"/>
              <a:buFont typeface="Arial"/>
              <a:buNone/>
            </a:pPr>
            <a:r>
              <a:rPr b="1" i="0" lang="ru" sz="1100" u="none" cap="none" strike="noStrike">
                <a:solidFill>
                  <a:schemeClr val="dk1"/>
                </a:solidFill>
                <a:latin typeface="Montserrat"/>
                <a:ea typeface="Montserrat"/>
                <a:cs typeface="Montserrat"/>
                <a:sym typeface="Montserrat"/>
              </a:rPr>
              <a:t>Потребительские сегменты</a:t>
            </a:r>
            <a:endParaRPr b="0" i="0" sz="1000" u="none" cap="none" strike="noStrike">
              <a:solidFill>
                <a:schemeClr val="dk1"/>
              </a:solidFill>
              <a:latin typeface="Montserrat"/>
              <a:ea typeface="Montserrat"/>
              <a:cs typeface="Montserrat"/>
              <a:sym typeface="Montserrat"/>
            </a:endParaRPr>
          </a:p>
        </p:txBody>
      </p:sp>
      <p:sp>
        <p:nvSpPr>
          <p:cNvPr id="199" name="Google Shape;199;p14"/>
          <p:cNvSpPr/>
          <p:nvPr/>
        </p:nvSpPr>
        <p:spPr>
          <a:xfrm>
            <a:off x="7030525" y="2016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
        <p:nvSpPr>
          <p:cNvPr id="200" name="Google Shape;200;p14"/>
          <p:cNvSpPr txBox="1"/>
          <p:nvPr/>
        </p:nvSpPr>
        <p:spPr>
          <a:xfrm>
            <a:off x="350325" y="290150"/>
            <a:ext cx="8167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Бизнес-модель</a:t>
            </a:r>
            <a:endParaRPr b="1" i="0" sz="2800" u="none" cap="none" strike="noStrike">
              <a:solidFill>
                <a:srgbClr val="123194"/>
              </a:solidFill>
              <a:latin typeface="Montserrat"/>
              <a:ea typeface="Montserrat"/>
              <a:cs typeface="Montserrat"/>
              <a:sym typeface="Montserrat"/>
            </a:endParaRPr>
          </a:p>
        </p:txBody>
      </p:sp>
      <p:sp>
        <p:nvSpPr>
          <p:cNvPr id="201" name="Google Shape;201;p14"/>
          <p:cNvSpPr txBox="1"/>
          <p:nvPr/>
        </p:nvSpPr>
        <p:spPr>
          <a:xfrm>
            <a:off x="293375" y="4627500"/>
            <a:ext cx="7996500" cy="4125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1800"/>
              </a:spcAft>
              <a:buClr>
                <a:srgbClr val="000000"/>
              </a:buClr>
              <a:buSzPts val="1600"/>
              <a:buFont typeface="Arial"/>
              <a:buNone/>
            </a:pPr>
            <a:r>
              <a:rPr b="0" i="0" lang="ru" sz="1600" u="sng" cap="none" strike="noStrike">
                <a:solidFill>
                  <a:srgbClr val="123194"/>
                </a:solidFill>
                <a:latin typeface="Montserrat"/>
                <a:ea typeface="Montserrat"/>
                <a:cs typeface="Montserrat"/>
                <a:sym typeface="Montserrat"/>
              </a:rPr>
              <a:t>Ссылка на полн</a:t>
            </a:r>
            <a:r>
              <a:rPr lang="ru" sz="1600" u="sng">
                <a:solidFill>
                  <a:srgbClr val="123194"/>
                </a:solidFill>
                <a:latin typeface="Montserrat"/>
                <a:ea typeface="Montserrat"/>
                <a:cs typeface="Montserrat"/>
                <a:sym typeface="Montserrat"/>
              </a:rPr>
              <a:t>ую модель</a:t>
            </a:r>
            <a:endParaRPr b="0" i="0" sz="1600" u="sng" cap="none" strike="noStrike">
              <a:solidFill>
                <a:srgbClr val="123194"/>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5"/>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07" name="Google Shape;207;p15"/>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Развитие продукта: roadmap</a:t>
            </a:r>
            <a:endParaRPr b="1" i="0" sz="2800" u="none" cap="none" strike="noStrike">
              <a:solidFill>
                <a:srgbClr val="123194"/>
              </a:solidFill>
              <a:latin typeface="Montserrat"/>
              <a:ea typeface="Montserrat"/>
              <a:cs typeface="Montserrat"/>
              <a:sym typeface="Montserrat"/>
            </a:endParaRPr>
          </a:p>
        </p:txBody>
      </p:sp>
      <p:sp>
        <p:nvSpPr>
          <p:cNvPr id="208" name="Google Shape;208;p15"/>
          <p:cNvSpPr txBox="1"/>
          <p:nvPr/>
        </p:nvSpPr>
        <p:spPr>
          <a:xfrm>
            <a:off x="408600" y="1075900"/>
            <a:ext cx="8167800" cy="3431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50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Коротко расскажите о планируемых вехах развития продукта в формате дорожной карты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(по кварталам) в разрезе следующих аспектов (о пунктах со звездочкой можно рассказать, если позволяет тайминг):</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Запуск MVP/фич (развитие продукта)</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Выход на </a:t>
            </a:r>
            <a:r>
              <a:rPr i="1" lang="ru" sz="1200">
                <a:solidFill>
                  <a:srgbClr val="980000"/>
                </a:solidFill>
                <a:latin typeface="Montserrat"/>
                <a:ea typeface="Montserrat"/>
                <a:cs typeface="Montserrat"/>
                <a:sym typeface="Montserrat"/>
              </a:rPr>
              <a:t>рыночные ниши в  Go-To-Market стратегии (исходя из приоритизации рыночных сегментов / ниш в Задании 5)</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*Заключения партнерств, запуск каналов сбыта или важных вех в продвижении РАНО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 сложно без финмодели</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*Количество клиентов (когда будет финансовая модель) РАНО</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*Выручка (из расчетов емкости рынка и описания потоков доходов) РАНО</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*Инвестиции/гранты </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500"/>
              </a:spcBef>
              <a:spcAft>
                <a:spcPts val="0"/>
              </a:spcAft>
              <a:buClr>
                <a:srgbClr val="980000"/>
              </a:buClr>
              <a:buSzPts val="1200"/>
              <a:buFont typeface="Montserrat"/>
              <a:buAutoNum type="arabicPeriod"/>
            </a:pPr>
            <a:r>
              <a:rPr b="0" i="1" lang="ru" sz="1200" u="none" cap="none" strike="noStrike">
                <a:solidFill>
                  <a:srgbClr val="980000"/>
                </a:solidFill>
                <a:latin typeface="Montserrat"/>
                <a:ea typeface="Montserrat"/>
                <a:cs typeface="Montserrat"/>
                <a:sym typeface="Montserrat"/>
              </a:rPr>
              <a:t>*Другие важные вехи</a:t>
            </a:r>
            <a:endParaRPr b="0" i="1" sz="1200" u="none" cap="none" strike="noStrike">
              <a:solidFill>
                <a:srgbClr val="980000"/>
              </a:solidFill>
              <a:latin typeface="Montserrat"/>
              <a:ea typeface="Montserrat"/>
              <a:cs typeface="Montserrat"/>
              <a:sym typeface="Montserrat"/>
            </a:endParaRPr>
          </a:p>
          <a:p>
            <a:pPr indent="0" lvl="0" marL="0" marR="0" rtl="0" algn="l">
              <a:lnSpc>
                <a:spcPct val="115000"/>
              </a:lnSpc>
              <a:spcBef>
                <a:spcPts val="50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Опишите самое основное в формате результатов, а не процессов/задач. Цифры приветствуются</a:t>
            </a:r>
            <a:endParaRPr b="0" i="1" sz="1200" u="none" cap="none" strike="noStrike">
              <a:solidFill>
                <a:srgbClr val="980000"/>
              </a:solidFill>
              <a:latin typeface="Montserrat"/>
              <a:ea typeface="Montserrat"/>
              <a:cs typeface="Montserrat"/>
              <a:sym typeface="Montserrat"/>
            </a:endParaRPr>
          </a:p>
        </p:txBody>
      </p:sp>
      <p:sp>
        <p:nvSpPr>
          <p:cNvPr id="209" name="Google Shape;209;p15"/>
          <p:cNvSpPr/>
          <p:nvPr/>
        </p:nvSpPr>
        <p:spPr>
          <a:xfrm>
            <a:off x="6998075" y="2016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3" name="Shape 213"/>
        <p:cNvGrpSpPr/>
        <p:nvPr/>
      </p:nvGrpSpPr>
      <p:grpSpPr>
        <a:xfrm>
          <a:off x="0" y="0"/>
          <a:ext cx="0" cy="0"/>
          <a:chOff x="0" y="0"/>
          <a:chExt cx="0" cy="0"/>
        </a:xfrm>
      </p:grpSpPr>
      <p:sp>
        <p:nvSpPr>
          <p:cNvPr id="214" name="Google Shape;214;p16"/>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*Цели проекта на развитие</a:t>
            </a:r>
            <a:endParaRPr b="1" i="0" sz="2800" u="none" cap="none" strike="noStrike">
              <a:solidFill>
                <a:srgbClr val="123194"/>
              </a:solidFill>
              <a:latin typeface="Montserrat"/>
              <a:ea typeface="Montserrat"/>
              <a:cs typeface="Montserrat"/>
              <a:sym typeface="Montserrat"/>
            </a:endParaRPr>
          </a:p>
        </p:txBody>
      </p:sp>
      <p:sp>
        <p:nvSpPr>
          <p:cNvPr id="215" name="Google Shape;215;p16"/>
          <p:cNvSpPr txBox="1"/>
          <p:nvPr/>
        </p:nvSpPr>
        <p:spPr>
          <a:xfrm>
            <a:off x="368550" y="773174"/>
            <a:ext cx="8062200" cy="296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Наши цели: </a:t>
            </a:r>
            <a:endParaRPr b="1" i="0" sz="1200" u="none" cap="none" strike="noStrike">
              <a:solidFill>
                <a:schemeClr val="dk1"/>
              </a:solidFill>
              <a:latin typeface="Montserrat"/>
              <a:ea typeface="Montserrat"/>
              <a:cs typeface="Montserrat"/>
              <a:sym typeface="Montserrat"/>
            </a:endParaRPr>
          </a:p>
          <a:p>
            <a:pPr indent="-304800" lvl="0" marL="457200" marR="0" rtl="0" algn="l">
              <a:lnSpc>
                <a:spcPct val="115000"/>
              </a:lnSpc>
              <a:spcBef>
                <a:spcPts val="1000"/>
              </a:spcBef>
              <a:spcAft>
                <a:spcPts val="0"/>
              </a:spcAft>
              <a:buClr>
                <a:schemeClr val="dk1"/>
              </a:buClr>
              <a:buSzPts val="1200"/>
              <a:buFont typeface="Montserrat"/>
              <a:buAutoNum type="arabicPeriod"/>
            </a:pPr>
            <a:r>
              <a:rPr b="0" i="0" lang="ru" sz="1200" u="none" cap="none" strike="noStrike">
                <a:solidFill>
                  <a:schemeClr val="dk1"/>
                </a:solidFill>
                <a:latin typeface="Montserrat"/>
                <a:ea typeface="Montserrat"/>
                <a:cs typeface="Montserrat"/>
                <a:sym typeface="Montserrat"/>
              </a:rPr>
              <a:t>Партнер для пилота: </a:t>
            </a:r>
            <a:r>
              <a:rPr b="0" i="1" lang="ru" sz="1200" u="none" cap="none" strike="noStrike">
                <a:solidFill>
                  <a:srgbClr val="980000"/>
                </a:solidFill>
                <a:latin typeface="Montserrat"/>
                <a:ea typeface="Montserrat"/>
                <a:cs typeface="Montserrat"/>
                <a:sym typeface="Montserrat"/>
              </a:rPr>
              <a:t>область + *компания (если есть конкретика) + ценностное предложение для партнера</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1000"/>
              </a:spcBef>
              <a:spcAft>
                <a:spcPts val="0"/>
              </a:spcAft>
              <a:buClr>
                <a:schemeClr val="dk1"/>
              </a:buClr>
              <a:buSzPts val="1200"/>
              <a:buFont typeface="Montserrat"/>
              <a:buAutoNum type="arabicPeriod"/>
            </a:pPr>
            <a:r>
              <a:rPr i="1" lang="ru" sz="1200">
                <a:solidFill>
                  <a:schemeClr val="dk1"/>
                </a:solidFill>
                <a:latin typeface="Montserrat"/>
                <a:ea typeface="Montserrat"/>
                <a:cs typeface="Montserrat"/>
                <a:sym typeface="Montserrat"/>
              </a:rPr>
              <a:t>Стратегические партнеры: </a:t>
            </a:r>
            <a:r>
              <a:rPr i="1" lang="ru" sz="1200">
                <a:solidFill>
                  <a:srgbClr val="980000"/>
                </a:solidFill>
                <a:latin typeface="Montserrat"/>
                <a:ea typeface="Montserrat"/>
                <a:cs typeface="Montserrat"/>
                <a:sym typeface="Montserrat"/>
              </a:rPr>
              <a:t>по какому направлению будет вкладывать ресурсы</a:t>
            </a:r>
            <a:endParaRPr i="1" sz="1200">
              <a:solidFill>
                <a:srgbClr val="980000"/>
              </a:solidFill>
              <a:latin typeface="Montserrat"/>
              <a:ea typeface="Montserrat"/>
              <a:cs typeface="Montserrat"/>
              <a:sym typeface="Montserrat"/>
            </a:endParaRPr>
          </a:p>
          <a:p>
            <a:pPr indent="-304800" lvl="0" marL="457200" marR="0" rtl="0" algn="l">
              <a:lnSpc>
                <a:spcPct val="115000"/>
              </a:lnSpc>
              <a:spcBef>
                <a:spcPts val="1000"/>
              </a:spcBef>
              <a:spcAft>
                <a:spcPts val="0"/>
              </a:spcAft>
              <a:buClr>
                <a:schemeClr val="dk1"/>
              </a:buClr>
              <a:buSzPts val="1200"/>
              <a:buFont typeface="Montserrat"/>
              <a:buAutoNum type="arabicPeriod"/>
            </a:pPr>
            <a:r>
              <a:rPr b="0" i="0" lang="ru" sz="1200" u="none" cap="none" strike="noStrike">
                <a:solidFill>
                  <a:schemeClr val="dk1"/>
                </a:solidFill>
                <a:latin typeface="Montserrat"/>
                <a:ea typeface="Montserrat"/>
                <a:cs typeface="Montserrat"/>
                <a:sym typeface="Montserrat"/>
              </a:rPr>
              <a:t>Доукомплектование команды: </a:t>
            </a:r>
            <a:r>
              <a:rPr b="0" i="1" lang="ru" sz="1200" u="none" cap="none" strike="noStrike">
                <a:solidFill>
                  <a:srgbClr val="980000"/>
                </a:solidFill>
                <a:latin typeface="Montserrat"/>
                <a:ea typeface="Montserrat"/>
                <a:cs typeface="Montserrat"/>
                <a:sym typeface="Montserrat"/>
              </a:rPr>
              <a:t>специалисты</a:t>
            </a:r>
            <a:endParaRPr b="0" i="1" sz="1200" u="none" cap="none" strike="noStrike">
              <a:solidFill>
                <a:srgbClr val="980000"/>
              </a:solidFill>
              <a:latin typeface="Montserrat"/>
              <a:ea typeface="Montserrat"/>
              <a:cs typeface="Montserrat"/>
              <a:sym typeface="Montserrat"/>
            </a:endParaRPr>
          </a:p>
          <a:p>
            <a:pPr indent="-304800" lvl="0" marL="457200" marR="0" rtl="0" algn="l">
              <a:lnSpc>
                <a:spcPct val="115000"/>
              </a:lnSpc>
              <a:spcBef>
                <a:spcPts val="1000"/>
              </a:spcBef>
              <a:spcAft>
                <a:spcPts val="0"/>
              </a:spcAft>
              <a:buClr>
                <a:schemeClr val="dk1"/>
              </a:buClr>
              <a:buSzPts val="1200"/>
              <a:buFont typeface="Montserrat"/>
              <a:buAutoNum type="arabicPeriod"/>
            </a:pPr>
            <a:r>
              <a:rPr b="0" i="0" lang="ru" sz="1200" u="none" cap="none" strike="noStrike">
                <a:solidFill>
                  <a:schemeClr val="dk1"/>
                </a:solidFill>
                <a:latin typeface="Montserrat"/>
                <a:ea typeface="Montserrat"/>
                <a:cs typeface="Montserrat"/>
                <a:sym typeface="Montserrat"/>
              </a:rPr>
              <a:t>Сумма гранта/инвестиций: ________ рублей </a:t>
            </a:r>
            <a:r>
              <a:rPr b="0" i="0" lang="ru" sz="1200" u="none" cap="none" strike="noStrike">
                <a:solidFill>
                  <a:srgbClr val="980000"/>
                </a:solidFill>
                <a:latin typeface="Montserrat"/>
                <a:ea typeface="Montserrat"/>
                <a:cs typeface="Montserrat"/>
                <a:sym typeface="Montserrat"/>
              </a:rPr>
              <a:t>(</a:t>
            </a:r>
            <a:r>
              <a:rPr b="0" i="1" lang="ru" sz="1200" u="none" cap="none" strike="noStrike">
                <a:solidFill>
                  <a:srgbClr val="980000"/>
                </a:solidFill>
                <a:latin typeface="Montserrat"/>
                <a:ea typeface="Montserrat"/>
                <a:cs typeface="Montserrat"/>
                <a:sym typeface="Montserrat"/>
              </a:rPr>
              <a:t>если грант, то указать наименование</a:t>
            </a:r>
            <a:r>
              <a:rPr b="0" i="0" lang="ru" sz="1200" u="none" cap="none" strike="noStrike">
                <a:solidFill>
                  <a:srgbClr val="980000"/>
                </a:solidFill>
                <a:latin typeface="Montserrat"/>
                <a:ea typeface="Montserrat"/>
                <a:cs typeface="Montserrat"/>
                <a:sym typeface="Montserrat"/>
              </a:rPr>
              <a:t>) </a:t>
            </a:r>
            <a:endParaRPr b="0" i="0" sz="1200" u="none" cap="none" strike="noStrike">
              <a:solidFill>
                <a:srgbClr val="980000"/>
              </a:solidFill>
              <a:latin typeface="Montserrat"/>
              <a:ea typeface="Montserrat"/>
              <a:cs typeface="Montserrat"/>
              <a:sym typeface="Montserrat"/>
            </a:endParaRPr>
          </a:p>
          <a:p>
            <a:pPr indent="0" lvl="0" marL="457200" marR="0" rtl="0" algn="l">
              <a:lnSpc>
                <a:spcPct val="115000"/>
              </a:lnSpc>
              <a:spcBef>
                <a:spcPts val="1000"/>
              </a:spcBef>
              <a:spcAft>
                <a:spcPts val="0"/>
              </a:spcAft>
              <a:buNone/>
            </a:pPr>
            <a:r>
              <a:rPr lang="ru" sz="1200">
                <a:solidFill>
                  <a:schemeClr val="dk1"/>
                </a:solidFill>
                <a:latin typeface="Montserrat"/>
                <a:ea typeface="Montserrat"/>
                <a:cs typeface="Montserrat"/>
                <a:sym typeface="Montserrat"/>
              </a:rPr>
              <a:t>Целевые метрики:</a:t>
            </a:r>
            <a:endParaRPr sz="1200">
              <a:solidFill>
                <a:schemeClr val="dk1"/>
              </a:solidFill>
              <a:latin typeface="Montserrat"/>
              <a:ea typeface="Montserrat"/>
              <a:cs typeface="Montserrat"/>
              <a:sym typeface="Montserrat"/>
            </a:endParaRPr>
          </a:p>
          <a:p>
            <a:pPr indent="0" lvl="0" marL="0" marR="0" rtl="0" algn="l">
              <a:lnSpc>
                <a:spcPct val="115000"/>
              </a:lnSpc>
              <a:spcBef>
                <a:spcPts val="1000"/>
              </a:spcBef>
              <a:spcAft>
                <a:spcPts val="0"/>
              </a:spcAft>
              <a:buNone/>
            </a:pPr>
            <a:r>
              <a:rPr lang="ru" sz="1200">
                <a:solidFill>
                  <a:srgbClr val="CC0000"/>
                </a:solidFill>
                <a:latin typeface="Montserrat"/>
                <a:ea typeface="Montserrat"/>
                <a:cs typeface="Montserrat"/>
                <a:sym typeface="Montserrat"/>
              </a:rPr>
              <a:t>   </a:t>
            </a:r>
            <a:r>
              <a:rPr lang="ru" sz="1200">
                <a:solidFill>
                  <a:schemeClr val="dk1"/>
                </a:solidFill>
                <a:latin typeface="Montserrat"/>
                <a:ea typeface="Montserrat"/>
                <a:cs typeface="Montserrat"/>
                <a:sym typeface="Montserrat"/>
              </a:rPr>
              <a:t>         Срок: ____год </a:t>
            </a:r>
            <a:r>
              <a:rPr lang="ru" sz="1200">
                <a:solidFill>
                  <a:srgbClr val="980000"/>
                </a:solidFill>
                <a:latin typeface="Montserrat"/>
                <a:ea typeface="Montserrat"/>
                <a:cs typeface="Montserrat"/>
                <a:sym typeface="Montserrat"/>
              </a:rPr>
              <a:t>(согласно роадмапу/ требованиям гранта или инвестора)  </a:t>
            </a:r>
            <a:endParaRPr sz="1200">
              <a:solidFill>
                <a:srgbClr val="980000"/>
              </a:solidFill>
              <a:latin typeface="Montserrat"/>
              <a:ea typeface="Montserrat"/>
              <a:cs typeface="Montserrat"/>
              <a:sym typeface="Montserrat"/>
            </a:endParaRPr>
          </a:p>
          <a:p>
            <a:pPr indent="0" lvl="0" marL="0" marR="0" rtl="0" algn="l">
              <a:lnSpc>
                <a:spcPct val="115000"/>
              </a:lnSpc>
              <a:spcBef>
                <a:spcPts val="1000"/>
              </a:spcBef>
              <a:spcAft>
                <a:spcPts val="1000"/>
              </a:spcAft>
              <a:buClr>
                <a:srgbClr val="000000"/>
              </a:buClr>
              <a:buSzPts val="1200"/>
              <a:buFont typeface="Arial"/>
              <a:buNone/>
            </a:pPr>
            <a:r>
              <a:rPr b="1" lang="ru" sz="1200">
                <a:solidFill>
                  <a:schemeClr val="dk1"/>
                </a:solidFill>
                <a:latin typeface="Montserrat"/>
                <a:ea typeface="Montserrat"/>
                <a:cs typeface="Montserrat"/>
                <a:sym typeface="Montserrat"/>
              </a:rPr>
              <a:t>Основные цели инвестиций:</a:t>
            </a:r>
            <a:endParaRPr b="1" sz="1200">
              <a:solidFill>
                <a:schemeClr val="dk1"/>
              </a:solidFill>
              <a:latin typeface="Montserrat"/>
              <a:ea typeface="Montserrat"/>
              <a:cs typeface="Montserrat"/>
              <a:sym typeface="Montserrat"/>
            </a:endParaRPr>
          </a:p>
        </p:txBody>
      </p:sp>
      <p:sp>
        <p:nvSpPr>
          <p:cNvPr id="216" name="Google Shape;216;p16"/>
          <p:cNvSpPr/>
          <p:nvPr/>
        </p:nvSpPr>
        <p:spPr>
          <a:xfrm>
            <a:off x="363175" y="3631625"/>
            <a:ext cx="2311800" cy="381000"/>
          </a:xfrm>
          <a:prstGeom prst="roundRect">
            <a:avLst>
              <a:gd fmla="val 16667" name="adj"/>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solidFill>
                  <a:schemeClr val="lt1"/>
                </a:solidFill>
                <a:latin typeface="Montserrat"/>
                <a:ea typeface="Montserrat"/>
                <a:cs typeface="Montserrat"/>
                <a:sym typeface="Montserrat"/>
              </a:rPr>
              <a:t>Цель 1</a:t>
            </a:r>
            <a:endParaRPr>
              <a:solidFill>
                <a:schemeClr val="lt1"/>
              </a:solidFill>
              <a:latin typeface="Montserrat"/>
              <a:ea typeface="Montserrat"/>
              <a:cs typeface="Montserrat"/>
              <a:sym typeface="Montserrat"/>
            </a:endParaRPr>
          </a:p>
        </p:txBody>
      </p:sp>
      <p:sp>
        <p:nvSpPr>
          <p:cNvPr id="217" name="Google Shape;217;p16"/>
          <p:cNvSpPr/>
          <p:nvPr/>
        </p:nvSpPr>
        <p:spPr>
          <a:xfrm>
            <a:off x="3172850" y="3631575"/>
            <a:ext cx="2311800" cy="381000"/>
          </a:xfrm>
          <a:prstGeom prst="roundRect">
            <a:avLst>
              <a:gd fmla="val 16667" name="adj"/>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solidFill>
                  <a:schemeClr val="lt1"/>
                </a:solidFill>
                <a:latin typeface="Montserrat"/>
                <a:ea typeface="Montserrat"/>
                <a:cs typeface="Montserrat"/>
                <a:sym typeface="Montserrat"/>
              </a:rPr>
              <a:t>Цель 2</a:t>
            </a:r>
            <a:endParaRPr>
              <a:solidFill>
                <a:schemeClr val="lt1"/>
              </a:solidFill>
              <a:latin typeface="Montserrat"/>
              <a:ea typeface="Montserrat"/>
              <a:cs typeface="Montserrat"/>
              <a:sym typeface="Montserrat"/>
            </a:endParaRPr>
          </a:p>
        </p:txBody>
      </p:sp>
      <p:sp>
        <p:nvSpPr>
          <p:cNvPr id="218" name="Google Shape;218;p16"/>
          <p:cNvSpPr/>
          <p:nvPr/>
        </p:nvSpPr>
        <p:spPr>
          <a:xfrm>
            <a:off x="6053425" y="3631575"/>
            <a:ext cx="2311800" cy="381000"/>
          </a:xfrm>
          <a:prstGeom prst="roundRect">
            <a:avLst>
              <a:gd fmla="val 16667" name="adj"/>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ru">
                <a:solidFill>
                  <a:schemeClr val="lt1"/>
                </a:solidFill>
                <a:latin typeface="Montserrat"/>
                <a:ea typeface="Montserrat"/>
                <a:cs typeface="Montserrat"/>
                <a:sym typeface="Montserrat"/>
              </a:rPr>
              <a:t>Цель 3</a:t>
            </a:r>
            <a:endParaRPr>
              <a:solidFill>
                <a:schemeClr val="lt1"/>
              </a:solidFill>
              <a:latin typeface="Montserrat"/>
              <a:ea typeface="Montserrat"/>
              <a:cs typeface="Montserrat"/>
              <a:sym typeface="Montserrat"/>
            </a:endParaRPr>
          </a:p>
        </p:txBody>
      </p:sp>
      <p:sp>
        <p:nvSpPr>
          <p:cNvPr id="219" name="Google Shape;219;p16"/>
          <p:cNvSpPr txBox="1"/>
          <p:nvPr/>
        </p:nvSpPr>
        <p:spPr>
          <a:xfrm>
            <a:off x="487181" y="4056800"/>
            <a:ext cx="2072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Montserrat"/>
                <a:ea typeface="Montserrat"/>
                <a:cs typeface="Montserrat"/>
                <a:sym typeface="Montserrat"/>
              </a:rPr>
              <a:t>[Сумма] (____%)</a:t>
            </a:r>
            <a:endParaRPr sz="1200">
              <a:latin typeface="Montserrat"/>
              <a:ea typeface="Montserrat"/>
              <a:cs typeface="Montserrat"/>
              <a:sym typeface="Montserrat"/>
            </a:endParaRPr>
          </a:p>
        </p:txBody>
      </p:sp>
      <p:sp>
        <p:nvSpPr>
          <p:cNvPr id="220" name="Google Shape;220;p16"/>
          <p:cNvSpPr txBox="1"/>
          <p:nvPr/>
        </p:nvSpPr>
        <p:spPr>
          <a:xfrm>
            <a:off x="3367756" y="4056800"/>
            <a:ext cx="2072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latin typeface="Montserrat"/>
                <a:ea typeface="Montserrat"/>
                <a:cs typeface="Montserrat"/>
                <a:sym typeface="Montserrat"/>
              </a:rPr>
              <a:t>[Сумма] (____%)</a:t>
            </a:r>
            <a:endParaRPr sz="1200">
              <a:latin typeface="Montserrat"/>
              <a:ea typeface="Montserrat"/>
              <a:cs typeface="Montserrat"/>
              <a:sym typeface="Montserrat"/>
            </a:endParaRPr>
          </a:p>
        </p:txBody>
      </p:sp>
      <p:sp>
        <p:nvSpPr>
          <p:cNvPr id="221" name="Google Shape;221;p16"/>
          <p:cNvSpPr txBox="1"/>
          <p:nvPr/>
        </p:nvSpPr>
        <p:spPr>
          <a:xfrm>
            <a:off x="6248331" y="4032558"/>
            <a:ext cx="20727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1"/>
                </a:solidFill>
                <a:latin typeface="Montserrat"/>
                <a:ea typeface="Montserrat"/>
                <a:cs typeface="Montserrat"/>
                <a:sym typeface="Montserrat"/>
              </a:rPr>
              <a:t>[Сумма] (____%)</a:t>
            </a:r>
            <a:endParaRPr sz="1200">
              <a:solidFill>
                <a:schemeClr val="dk1"/>
              </a:solidFill>
              <a:latin typeface="Montserrat"/>
              <a:ea typeface="Montserrat"/>
              <a:cs typeface="Montserrat"/>
              <a:sym typeface="Montserrat"/>
            </a:endParaRPr>
          </a:p>
        </p:txBody>
      </p:sp>
      <p:sp>
        <p:nvSpPr>
          <p:cNvPr id="222" name="Google Shape;222;p16"/>
          <p:cNvSpPr txBox="1"/>
          <p:nvPr/>
        </p:nvSpPr>
        <p:spPr>
          <a:xfrm>
            <a:off x="354300" y="4366700"/>
            <a:ext cx="2311800" cy="575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p:txBody>
      </p:sp>
      <p:sp>
        <p:nvSpPr>
          <p:cNvPr id="223" name="Google Shape;223;p16"/>
          <p:cNvSpPr txBox="1"/>
          <p:nvPr/>
        </p:nvSpPr>
        <p:spPr>
          <a:xfrm>
            <a:off x="3248200" y="4366700"/>
            <a:ext cx="2311800" cy="575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Montserrat"/>
              <a:buChar char="-"/>
            </a:pPr>
            <a:r>
              <a:rPr lang="ru" sz="1200">
                <a:solidFill>
                  <a:schemeClr val="dk1"/>
                </a:solidFill>
                <a:latin typeface="Montserrat"/>
                <a:ea typeface="Montserrat"/>
                <a:cs typeface="Montserrat"/>
                <a:sym typeface="Montserrat"/>
              </a:rPr>
              <a:t> статья затрат</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ru" sz="1200">
                <a:solidFill>
                  <a:schemeClr val="dk1"/>
                </a:solidFill>
                <a:latin typeface="Montserrat"/>
                <a:ea typeface="Montserrat"/>
                <a:cs typeface="Montserrat"/>
                <a:sym typeface="Montserrat"/>
              </a:rPr>
              <a:t> статья затрат</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ru" sz="1200">
                <a:solidFill>
                  <a:schemeClr val="dk1"/>
                </a:solidFill>
                <a:latin typeface="Montserrat"/>
                <a:ea typeface="Montserrat"/>
                <a:cs typeface="Montserrat"/>
                <a:sym typeface="Montserrat"/>
              </a:rPr>
              <a:t> статья затрат</a:t>
            </a:r>
            <a:endParaRPr sz="1200">
              <a:solidFill>
                <a:schemeClr val="dk1"/>
              </a:solidFill>
              <a:latin typeface="Montserrat"/>
              <a:ea typeface="Montserrat"/>
              <a:cs typeface="Montserrat"/>
              <a:sym typeface="Montserrat"/>
            </a:endParaRPr>
          </a:p>
        </p:txBody>
      </p:sp>
      <p:sp>
        <p:nvSpPr>
          <p:cNvPr id="224" name="Google Shape;224;p16"/>
          <p:cNvSpPr txBox="1"/>
          <p:nvPr/>
        </p:nvSpPr>
        <p:spPr>
          <a:xfrm>
            <a:off x="6053425" y="4352614"/>
            <a:ext cx="2311800" cy="575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a:p>
            <a:pPr indent="-304800" lvl="0" marL="457200" rtl="0" algn="l">
              <a:spcBef>
                <a:spcPts val="0"/>
              </a:spcBef>
              <a:spcAft>
                <a:spcPts val="0"/>
              </a:spcAft>
              <a:buSzPts val="1200"/>
              <a:buFont typeface="Montserrat"/>
              <a:buChar char="-"/>
            </a:pPr>
            <a:r>
              <a:rPr lang="ru" sz="1200">
                <a:latin typeface="Montserrat"/>
                <a:ea typeface="Montserrat"/>
                <a:cs typeface="Montserrat"/>
                <a:sym typeface="Montserrat"/>
              </a:rPr>
              <a:t> статья затрат</a:t>
            </a:r>
            <a:endParaRPr sz="12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17"/>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30" name="Google Shape;230;p17"/>
          <p:cNvSpPr txBox="1"/>
          <p:nvPr/>
        </p:nvSpPr>
        <p:spPr>
          <a:xfrm>
            <a:off x="292358" y="3683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231" name="Google Shape;231;p17"/>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Артефакты проекта</a:t>
            </a:r>
            <a:endParaRPr b="1" i="0" sz="2800" u="none" cap="none" strike="noStrike">
              <a:solidFill>
                <a:srgbClr val="123194"/>
              </a:solidFill>
              <a:latin typeface="Montserrat"/>
              <a:ea typeface="Montserrat"/>
              <a:cs typeface="Montserrat"/>
              <a:sym typeface="Montserrat"/>
            </a:endParaRPr>
          </a:p>
        </p:txBody>
      </p:sp>
      <p:sp>
        <p:nvSpPr>
          <p:cNvPr id="232" name="Google Shape;232;p17"/>
          <p:cNvSpPr txBox="1"/>
          <p:nvPr/>
        </p:nvSpPr>
        <p:spPr>
          <a:xfrm>
            <a:off x="279593" y="1024944"/>
            <a:ext cx="8167800" cy="35001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Montserrat"/>
              <a:buChar char="●"/>
            </a:pPr>
            <a:r>
              <a:rPr b="0" i="0" lang="ru" sz="1400" u="none" cap="none" strike="noStrike">
                <a:solidFill>
                  <a:srgbClr val="000000"/>
                </a:solidFill>
                <a:latin typeface="Montserrat"/>
                <a:ea typeface="Montserrat"/>
                <a:cs typeface="Montserrat"/>
                <a:sym typeface="Montserrat"/>
              </a:rPr>
              <a:t>Ссылка на Паспорт проекта с доступом на просмотр</a:t>
            </a:r>
            <a:endParaRPr b="0" i="0" sz="1400" u="none" cap="none" strike="noStrike">
              <a:solidFill>
                <a:srgbClr val="000000"/>
              </a:solidFill>
              <a:latin typeface="Montserrat"/>
              <a:ea typeface="Montserrat"/>
              <a:cs typeface="Montserrat"/>
              <a:sym typeface="Montserrat"/>
            </a:endParaRPr>
          </a:p>
          <a:p>
            <a:pPr indent="-317500" lvl="0" marL="457200" marR="0" rtl="0" algn="l">
              <a:lnSpc>
                <a:spcPct val="115000"/>
              </a:lnSpc>
              <a:spcBef>
                <a:spcPts val="1000"/>
              </a:spcBef>
              <a:spcAft>
                <a:spcPts val="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*Ссылка на результаты CustDev </a:t>
            </a:r>
            <a:endParaRPr b="0" i="0" sz="1400" u="none" cap="none" strike="noStrike">
              <a:solidFill>
                <a:schemeClr val="dk1"/>
              </a:solidFill>
              <a:latin typeface="Montserrat"/>
              <a:ea typeface="Montserrat"/>
              <a:cs typeface="Montserrat"/>
              <a:sym typeface="Montserrat"/>
            </a:endParaRPr>
          </a:p>
          <a:p>
            <a:pPr indent="-317500" lvl="0" marL="457200" marR="0" rtl="0" algn="l">
              <a:lnSpc>
                <a:spcPct val="115000"/>
              </a:lnSpc>
              <a:spcBef>
                <a:spcPts val="1000"/>
              </a:spcBef>
              <a:spcAft>
                <a:spcPts val="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*Ссылка на проект на GitHub или др.</a:t>
            </a:r>
            <a:endParaRPr b="0" i="0" sz="1400" u="none" cap="none" strike="noStrike">
              <a:solidFill>
                <a:schemeClr val="dk1"/>
              </a:solidFill>
              <a:latin typeface="Montserrat"/>
              <a:ea typeface="Montserrat"/>
              <a:cs typeface="Montserrat"/>
              <a:sym typeface="Montserrat"/>
            </a:endParaRPr>
          </a:p>
          <a:p>
            <a:pPr indent="-317500" lvl="0" marL="457200" marR="0" rtl="0" algn="l">
              <a:lnSpc>
                <a:spcPct val="115000"/>
              </a:lnSpc>
              <a:spcBef>
                <a:spcPts val="1000"/>
              </a:spcBef>
              <a:spcAft>
                <a:spcPts val="1000"/>
              </a:spcAft>
              <a:buClr>
                <a:schemeClr val="dk1"/>
              </a:buClr>
              <a:buSzPts val="1400"/>
              <a:buFont typeface="Montserrat"/>
              <a:buChar char="●"/>
            </a:pPr>
            <a:r>
              <a:rPr b="0" i="0" lang="ru" sz="1400" u="none" cap="none" strike="noStrike">
                <a:solidFill>
                  <a:schemeClr val="dk1"/>
                </a:solidFill>
                <a:latin typeface="Montserrat"/>
                <a:ea typeface="Montserrat"/>
                <a:cs typeface="Montserrat"/>
                <a:sym typeface="Montserrat"/>
              </a:rPr>
              <a:t>*Любые другие материалы, демонстрирующие проработанность идеи</a:t>
            </a:r>
            <a:endParaRPr b="0" i="0" sz="1400" u="none" cap="none" strike="noStrike">
              <a:solidFill>
                <a:schemeClr val="dk1"/>
              </a:solidFill>
              <a:latin typeface="Montserrat"/>
              <a:ea typeface="Montserrat"/>
              <a:cs typeface="Montserrat"/>
              <a:sym typeface="Montserrat"/>
            </a:endParaRPr>
          </a:p>
        </p:txBody>
      </p:sp>
      <p:sp>
        <p:nvSpPr>
          <p:cNvPr id="233" name="Google Shape;233;p17"/>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Просто показать</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8"/>
          <p:cNvSpPr txBox="1"/>
          <p:nvPr/>
        </p:nvSpPr>
        <p:spPr>
          <a:xfrm>
            <a:off x="419950" y="1043282"/>
            <a:ext cx="2513700" cy="369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rPr b="0" i="1" lang="ru" sz="1200" u="none" cap="none" strike="noStrike">
                <a:solidFill>
                  <a:srgbClr val="980000"/>
                </a:solidFill>
                <a:latin typeface="Montserrat"/>
                <a:ea typeface="Montserrat"/>
                <a:cs typeface="Montserrat"/>
                <a:sym typeface="Montserrat"/>
              </a:rPr>
              <a:t>Сформулируйте задачи,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в скобках дайте отсылку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к заданию и процент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количество от общего выполненного по задаче (например, количество проведенных интервью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проанализированных конкурентов)</a:t>
            </a:r>
            <a:endParaRPr b="0" i="1" sz="1200" u="none" cap="none" strike="noStrike">
              <a:solidFill>
                <a:srgbClr val="980000"/>
              </a:solidFill>
              <a:latin typeface="Montserrat"/>
              <a:ea typeface="Montserrat"/>
              <a:cs typeface="Montserrat"/>
              <a:sym typeface="Montserrat"/>
            </a:endParaRPr>
          </a:p>
        </p:txBody>
      </p:sp>
      <p:sp>
        <p:nvSpPr>
          <p:cNvPr id="239" name="Google Shape;239;p18"/>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Личный вклад каждого участника</a:t>
            </a:r>
            <a:endParaRPr b="1" i="0" sz="2800" u="none" cap="none" strike="noStrike">
              <a:solidFill>
                <a:srgbClr val="123194"/>
              </a:solidFill>
              <a:latin typeface="Montserrat"/>
              <a:ea typeface="Montserrat"/>
              <a:cs typeface="Montserrat"/>
              <a:sym typeface="Montserrat"/>
            </a:endParaRPr>
          </a:p>
        </p:txBody>
      </p:sp>
      <p:sp>
        <p:nvSpPr>
          <p:cNvPr id="240" name="Google Shape;240;p18"/>
          <p:cNvSpPr txBox="1"/>
          <p:nvPr/>
        </p:nvSpPr>
        <p:spPr>
          <a:xfrm>
            <a:off x="3197550" y="1055375"/>
            <a:ext cx="2513700" cy="369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1" lang="ru" sz="1200" u="none" cap="none" strike="noStrike">
                <a:solidFill>
                  <a:srgbClr val="980000"/>
                </a:solidFill>
                <a:latin typeface="Montserrat"/>
                <a:ea typeface="Montserrat"/>
                <a:cs typeface="Montserrat"/>
                <a:sym typeface="Montserrat"/>
              </a:rPr>
              <a:t>Сформулируйте задачи,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в скобках дайте отсылку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к заданию и процент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количество от общего выполненного по задаче (например, количество проведенных интервью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проанализированных конкурентов)</a:t>
            </a:r>
            <a:endParaRPr b="0" i="0" sz="1200" u="none" cap="none" strike="noStrike">
              <a:solidFill>
                <a:srgbClr val="980000"/>
              </a:solidFill>
              <a:latin typeface="Montserrat"/>
              <a:ea typeface="Montserrat"/>
              <a:cs typeface="Montserrat"/>
              <a:sym typeface="Montserrat"/>
            </a:endParaRPr>
          </a:p>
        </p:txBody>
      </p:sp>
      <p:sp>
        <p:nvSpPr>
          <p:cNvPr id="241" name="Google Shape;241;p18"/>
          <p:cNvSpPr txBox="1"/>
          <p:nvPr/>
        </p:nvSpPr>
        <p:spPr>
          <a:xfrm>
            <a:off x="6051350" y="1055375"/>
            <a:ext cx="2513700" cy="369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ФИО участника</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rPr b="1" i="0" lang="ru" sz="1200" u="none" cap="none" strike="noStrike">
                <a:solidFill>
                  <a:schemeClr val="dk1"/>
                </a:solidFill>
                <a:latin typeface="Montserrat"/>
                <a:ea typeface="Montserrat"/>
                <a:cs typeface="Montserrat"/>
                <a:sym typeface="Montserrat"/>
              </a:rPr>
              <a:t>Роль</a:t>
            </a:r>
            <a:endParaRPr b="1"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rPr b="0" i="1" lang="ru" sz="1200" u="none" cap="none" strike="noStrike">
                <a:solidFill>
                  <a:srgbClr val="980000"/>
                </a:solidFill>
                <a:latin typeface="Montserrat"/>
                <a:ea typeface="Montserrat"/>
                <a:cs typeface="Montserrat"/>
                <a:sym typeface="Montserrat"/>
              </a:rPr>
              <a:t>Сформулируйте задачи,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в скобках дайте отсылку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к заданию и процент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количество от общего выполненного по задаче (например, количество проведенных интервью </a:t>
            </a:r>
            <a:br>
              <a:rPr b="0" i="1" lang="ru" sz="1200" u="none" cap="none" strike="noStrike">
                <a:solidFill>
                  <a:srgbClr val="980000"/>
                </a:solidFill>
                <a:latin typeface="Montserrat"/>
                <a:ea typeface="Montserrat"/>
                <a:cs typeface="Montserrat"/>
                <a:sym typeface="Montserrat"/>
              </a:rPr>
            </a:br>
            <a:r>
              <a:rPr b="0" i="1" lang="ru" sz="1200" u="none" cap="none" strike="noStrike">
                <a:solidFill>
                  <a:srgbClr val="980000"/>
                </a:solidFill>
                <a:latin typeface="Montserrat"/>
                <a:ea typeface="Montserrat"/>
                <a:cs typeface="Montserrat"/>
                <a:sym typeface="Montserrat"/>
              </a:rPr>
              <a:t>или проанализированных конкурентов)</a:t>
            </a:r>
            <a:endParaRPr b="0" i="0" sz="1200" u="none" cap="none" strike="noStrike">
              <a:solidFill>
                <a:srgbClr val="980000"/>
              </a:solidFill>
              <a:latin typeface="Montserrat"/>
              <a:ea typeface="Montserrat"/>
              <a:cs typeface="Montserrat"/>
              <a:sym typeface="Montserrat"/>
            </a:endParaRPr>
          </a:p>
        </p:txBody>
      </p:sp>
      <p:sp>
        <p:nvSpPr>
          <p:cNvPr id="242" name="Google Shape;242;p18"/>
          <p:cNvSpPr/>
          <p:nvPr/>
        </p:nvSpPr>
        <p:spPr>
          <a:xfrm>
            <a:off x="7062975" y="43257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Проговаривается на выступлении</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19"/>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48" name="Google Shape;248;p19"/>
          <p:cNvSpPr txBox="1"/>
          <p:nvPr/>
        </p:nvSpPr>
        <p:spPr>
          <a:xfrm>
            <a:off x="292358" y="3683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249" name="Google Shape;249;p19"/>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Источники</a:t>
            </a:r>
            <a:endParaRPr b="1" i="0" sz="2800" u="none" cap="none" strike="noStrike">
              <a:solidFill>
                <a:srgbClr val="123194"/>
              </a:solidFill>
              <a:latin typeface="Montserrat"/>
              <a:ea typeface="Montserrat"/>
              <a:cs typeface="Montserrat"/>
              <a:sym typeface="Montserrat"/>
            </a:endParaRPr>
          </a:p>
        </p:txBody>
      </p:sp>
      <p:sp>
        <p:nvSpPr>
          <p:cNvPr id="250" name="Google Shape;250;p19"/>
          <p:cNvSpPr txBox="1"/>
          <p:nvPr/>
        </p:nvSpPr>
        <p:spPr>
          <a:xfrm>
            <a:off x="279593" y="1101144"/>
            <a:ext cx="8167800" cy="35001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rgbClr val="980000"/>
              </a:buClr>
              <a:buSzPts val="1400"/>
              <a:buFont typeface="Montserrat"/>
              <a:buChar char="●"/>
            </a:pPr>
            <a:r>
              <a:rPr b="0" i="1" lang="ru" sz="1400" u="none" cap="none" strike="noStrike">
                <a:solidFill>
                  <a:srgbClr val="980000"/>
                </a:solidFill>
                <a:latin typeface="Montserrat"/>
                <a:ea typeface="Montserrat"/>
                <a:cs typeface="Montserrat"/>
                <a:sym typeface="Montserrat"/>
              </a:rPr>
              <a:t>Источник, который вы упоминали в питче</a:t>
            </a:r>
            <a:endParaRPr b="0" i="1" sz="1400" u="none" cap="none" strike="noStrike">
              <a:solidFill>
                <a:srgbClr val="980000"/>
              </a:solidFill>
              <a:latin typeface="Montserrat"/>
              <a:ea typeface="Montserrat"/>
              <a:cs typeface="Montserrat"/>
              <a:sym typeface="Montserrat"/>
            </a:endParaRPr>
          </a:p>
          <a:p>
            <a:pPr indent="-317500" lvl="0" marL="457200" marR="0" rtl="0" algn="l">
              <a:lnSpc>
                <a:spcPct val="115000"/>
              </a:lnSpc>
              <a:spcBef>
                <a:spcPts val="1000"/>
              </a:spcBef>
              <a:spcAft>
                <a:spcPts val="0"/>
              </a:spcAft>
              <a:buClr>
                <a:srgbClr val="980000"/>
              </a:buClr>
              <a:buSzPts val="1400"/>
              <a:buFont typeface="Montserrat"/>
              <a:buChar char="●"/>
            </a:pPr>
            <a:r>
              <a:rPr b="0" i="1" lang="ru" sz="1400" u="none" cap="none" strike="noStrike">
                <a:solidFill>
                  <a:srgbClr val="980000"/>
                </a:solidFill>
                <a:latin typeface="Montserrat"/>
                <a:ea typeface="Montserrat"/>
                <a:cs typeface="Montserrat"/>
                <a:sym typeface="Montserrat"/>
              </a:rPr>
              <a:t>Источник, который вы упоминали в питче</a:t>
            </a:r>
            <a:endParaRPr b="0" i="1" sz="1400" u="none" cap="none" strike="noStrike">
              <a:solidFill>
                <a:srgbClr val="980000"/>
              </a:solidFill>
              <a:latin typeface="Montserrat"/>
              <a:ea typeface="Montserrat"/>
              <a:cs typeface="Montserrat"/>
              <a:sym typeface="Montserrat"/>
            </a:endParaRPr>
          </a:p>
          <a:p>
            <a:pPr indent="-317500" lvl="0" marL="457200" marR="0" rtl="0" algn="l">
              <a:lnSpc>
                <a:spcPct val="115000"/>
              </a:lnSpc>
              <a:spcBef>
                <a:spcPts val="1000"/>
              </a:spcBef>
              <a:spcAft>
                <a:spcPts val="0"/>
              </a:spcAft>
              <a:buClr>
                <a:srgbClr val="980000"/>
              </a:buClr>
              <a:buSzPts val="1400"/>
              <a:buFont typeface="Montserrat"/>
              <a:buChar char="●"/>
            </a:pPr>
            <a:r>
              <a:rPr b="0" i="1" lang="ru" sz="1400" u="none" cap="none" strike="noStrike">
                <a:solidFill>
                  <a:srgbClr val="980000"/>
                </a:solidFill>
                <a:latin typeface="Montserrat"/>
                <a:ea typeface="Montserrat"/>
                <a:cs typeface="Montserrat"/>
                <a:sym typeface="Montserrat"/>
              </a:rPr>
              <a:t>Источник, который вы упоминали в питче</a:t>
            </a:r>
            <a:endParaRPr b="0" i="1" sz="1400" u="none" cap="none" strike="noStrike">
              <a:solidFill>
                <a:srgbClr val="980000"/>
              </a:solidFill>
              <a:latin typeface="Montserrat"/>
              <a:ea typeface="Montserrat"/>
              <a:cs typeface="Montserrat"/>
              <a:sym typeface="Montserrat"/>
            </a:endParaRPr>
          </a:p>
          <a:p>
            <a:pPr indent="-317500" lvl="0" marL="457200" marR="0" rtl="0" algn="l">
              <a:lnSpc>
                <a:spcPct val="115000"/>
              </a:lnSpc>
              <a:spcBef>
                <a:spcPts val="1000"/>
              </a:spcBef>
              <a:spcAft>
                <a:spcPts val="1000"/>
              </a:spcAft>
              <a:buClr>
                <a:srgbClr val="980000"/>
              </a:buClr>
              <a:buSzPts val="1400"/>
              <a:buFont typeface="Montserrat"/>
              <a:buChar char="●"/>
            </a:pPr>
            <a:r>
              <a:rPr b="0" i="1" lang="ru" sz="1400" u="none" cap="none" strike="noStrike">
                <a:solidFill>
                  <a:srgbClr val="980000"/>
                </a:solidFill>
                <a:latin typeface="Montserrat"/>
                <a:ea typeface="Montserrat"/>
                <a:cs typeface="Montserrat"/>
                <a:sym typeface="Montserrat"/>
              </a:rPr>
              <a:t>Источник, который вы упоминали в питче</a:t>
            </a:r>
            <a:endParaRPr b="0" i="1" sz="1400" u="none" cap="none" strike="noStrike">
              <a:solidFill>
                <a:srgbClr val="980000"/>
              </a:solidFill>
              <a:latin typeface="Montserrat"/>
              <a:ea typeface="Montserrat"/>
              <a:cs typeface="Montserrat"/>
              <a:sym typeface="Montserrat"/>
            </a:endParaRPr>
          </a:p>
        </p:txBody>
      </p:sp>
      <p:sp>
        <p:nvSpPr>
          <p:cNvPr id="251" name="Google Shape;251;p19"/>
          <p:cNvSpPr/>
          <p:nvPr/>
        </p:nvSpPr>
        <p:spPr>
          <a:xfrm>
            <a:off x="6870950" y="243200"/>
            <a:ext cx="1810200" cy="496800"/>
          </a:xfrm>
          <a:prstGeom prst="wedgeEllipseCallout">
            <a:avLst>
              <a:gd fmla="val -20833" name="adj1"/>
              <a:gd fmla="val 62500" name="adj2"/>
            </a:avLst>
          </a:prstGeom>
          <a:solidFill>
            <a:srgbClr val="123194"/>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1" lang="ru" sz="900" u="none" cap="none" strike="noStrike">
                <a:solidFill>
                  <a:schemeClr val="lt1"/>
                </a:solidFill>
                <a:highlight>
                  <a:srgbClr val="123194"/>
                </a:highlight>
                <a:latin typeface="Montserrat"/>
                <a:ea typeface="Montserrat"/>
                <a:cs typeface="Montserrat"/>
                <a:sym typeface="Montserrat"/>
              </a:rPr>
              <a:t>Просто показать</a:t>
            </a:r>
            <a:endParaRPr b="0" i="1" sz="900" u="none" cap="none" strike="noStrike">
              <a:solidFill>
                <a:schemeClr val="lt1"/>
              </a:solidFill>
              <a:highlight>
                <a:srgbClr val="123194"/>
              </a:highlight>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7" name="Google Shape;257;p20"/>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pic>
        <p:nvPicPr>
          <p:cNvPr id="258" name="Google Shape;258;p20"/>
          <p:cNvPicPr preferRelativeResize="0"/>
          <p:nvPr/>
        </p:nvPicPr>
        <p:blipFill rotWithShape="1">
          <a:blip r:embed="rId4">
            <a:alphaModFix/>
          </a:blip>
          <a:srcRect b="36008" l="0" r="47182" t="0"/>
          <a:stretch/>
        </p:blipFill>
        <p:spPr>
          <a:xfrm>
            <a:off x="4816900" y="266775"/>
            <a:ext cx="4183099" cy="4787126"/>
          </a:xfrm>
          <a:prstGeom prst="rect">
            <a:avLst/>
          </a:prstGeom>
          <a:noFill/>
          <a:ln>
            <a:noFill/>
          </a:ln>
        </p:spPr>
      </p:pic>
      <p:sp>
        <p:nvSpPr>
          <p:cNvPr id="259" name="Google Shape;259;p20"/>
          <p:cNvSpPr txBox="1"/>
          <p:nvPr/>
        </p:nvSpPr>
        <p:spPr>
          <a:xfrm>
            <a:off x="315779" y="380733"/>
            <a:ext cx="73473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Спасибо</a:t>
            </a:r>
            <a:endParaRPr b="1" i="0" sz="57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за внимание!</a:t>
            </a:r>
            <a:endParaRPr b="1" i="0" sz="57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1"/>
          <p:cNvSpPr/>
          <p:nvPr/>
        </p:nvSpPr>
        <p:spPr>
          <a:xfrm>
            <a:off x="0" y="0"/>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1"/>
          <p:cNvSpPr txBox="1"/>
          <p:nvPr/>
        </p:nvSpPr>
        <p:spPr>
          <a:xfrm>
            <a:off x="826349" y="985035"/>
            <a:ext cx="7347300" cy="1147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700"/>
              <a:buFont typeface="Arial"/>
              <a:buNone/>
            </a:pPr>
            <a:r>
              <a:rPr b="1" i="0" lang="ru" sz="5700" u="none" cap="none" strike="noStrike">
                <a:solidFill>
                  <a:schemeClr val="lt1"/>
                </a:solidFill>
                <a:latin typeface="Montserrat"/>
                <a:ea typeface="Montserrat"/>
                <a:cs typeface="Montserrat"/>
                <a:sym typeface="Montserrat"/>
              </a:rPr>
              <a:t>Дополнительные слайды для оформления</a:t>
            </a:r>
            <a:endParaRPr b="1" i="0" sz="5700" u="none" cap="none" strike="noStrike">
              <a:solidFill>
                <a:schemeClr val="lt1"/>
              </a:solidFill>
              <a:latin typeface="Montserrat"/>
              <a:ea typeface="Montserrat"/>
              <a:cs typeface="Montserrat"/>
              <a:sym typeface="Montserrat"/>
            </a:endParaRPr>
          </a:p>
        </p:txBody>
      </p:sp>
      <p:pic>
        <p:nvPicPr>
          <p:cNvPr id="266" name="Google Shape;266;p21"/>
          <p:cNvPicPr preferRelativeResize="0"/>
          <p:nvPr/>
        </p:nvPicPr>
        <p:blipFill rotWithShape="1">
          <a:blip r:embed="rId3">
            <a:alphaModFix/>
          </a:blip>
          <a:srcRect b="0" l="0" r="0" t="0"/>
          <a:stretch/>
        </p:blipFill>
        <p:spPr>
          <a:xfrm>
            <a:off x="419488" y="4491378"/>
            <a:ext cx="847909" cy="41539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22"/>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272" name="Google Shape;272;p22"/>
          <p:cNvSpPr txBox="1"/>
          <p:nvPr/>
        </p:nvSpPr>
        <p:spPr>
          <a:xfrm>
            <a:off x="368558" y="2921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73" name="Google Shape;273;p22"/>
          <p:cNvSpPr txBox="1"/>
          <p:nvPr/>
        </p:nvSpPr>
        <p:spPr>
          <a:xfrm>
            <a:off x="372358" y="985577"/>
            <a:ext cx="8167800" cy="3500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a:t>
            </a:r>
            <a:r>
              <a:rPr b="1" i="0" lang="ru" sz="1800" u="none" cap="none" strike="noStrike">
                <a:solidFill>
                  <a:schemeClr val="dk1"/>
                </a:solidFill>
                <a:latin typeface="Montserrat"/>
                <a:ea typeface="Montserrat"/>
                <a:cs typeface="Montserrat"/>
                <a:sym typeface="Montserrat"/>
              </a:rPr>
              <a:t>Выделение важного внутри</a:t>
            </a:r>
            <a:r>
              <a:rPr b="0" i="0" lang="ru" sz="1800" u="none" cap="none" strike="noStrike">
                <a:solidFill>
                  <a:schemeClr val="dk1"/>
                </a:solidFill>
                <a:latin typeface="Montserrat"/>
                <a:ea typeface="Montserrat"/>
                <a:cs typeface="Montserrat"/>
                <a:sym typeface="Montserrat"/>
              </a:rPr>
              <a:t> Текст Текст Текст Текст Текст Текст Текст Текст Текст Текст Текст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1800"/>
              </a:spcBef>
              <a:spcAft>
                <a:spcPts val="0"/>
              </a:spcAft>
              <a:buClr>
                <a:srgbClr val="000000"/>
              </a:buClr>
              <a:buSzPts val="1800"/>
              <a:buFont typeface="Arial"/>
              <a:buNone/>
            </a:pPr>
            <a:r>
              <a:rPr b="0" i="0" lang="ru" sz="1800" u="sng" cap="none" strike="noStrike">
                <a:solidFill>
                  <a:srgbClr val="123194"/>
                </a:solidFill>
                <a:latin typeface="Montserrat"/>
                <a:ea typeface="Montserrat"/>
                <a:cs typeface="Montserrat"/>
                <a:sym typeface="Montserrat"/>
                <a:hlinkClick r:id="rId4">
                  <a:extLst>
                    <a:ext uri="{A12FA001-AC4F-418D-AE19-62706E023703}">
                      <ahyp:hlinkClr val="tx"/>
                    </a:ext>
                  </a:extLst>
                </a:hlinkClick>
              </a:rPr>
              <a:t>Ссылка на сторонний ресурс</a:t>
            </a:r>
            <a:endParaRPr b="0" i="0" sz="1800" u="sng" cap="none" strike="noStrike">
              <a:solidFill>
                <a:srgbClr val="123194"/>
              </a:solidFill>
              <a:latin typeface="Montserrat"/>
              <a:ea typeface="Montserrat"/>
              <a:cs typeface="Montserrat"/>
              <a:sym typeface="Montserrat"/>
            </a:endParaRPr>
          </a:p>
          <a:p>
            <a:pPr indent="0" lvl="0" marL="0" marR="0" rtl="0" algn="l">
              <a:lnSpc>
                <a:spcPct val="115000"/>
              </a:lnSpc>
              <a:spcBef>
                <a:spcPts val="1800"/>
              </a:spcBef>
              <a:spcAft>
                <a:spcPts val="10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3"/>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79" name="Google Shape;279;p23"/>
          <p:cNvSpPr/>
          <p:nvPr/>
        </p:nvSpPr>
        <p:spPr>
          <a:xfrm>
            <a:off x="459858" y="1152351"/>
            <a:ext cx="8080500" cy="32877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3"/>
          <p:cNvSpPr txBox="1"/>
          <p:nvPr/>
        </p:nvSpPr>
        <p:spPr>
          <a:xfrm>
            <a:off x="2914972" y="2563223"/>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81" name="Google Shape;281;p23"/>
          <p:cNvSpPr txBox="1"/>
          <p:nvPr/>
        </p:nvSpPr>
        <p:spPr>
          <a:xfrm>
            <a:off x="349656"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 Источник: </a:t>
            </a:r>
            <a:r>
              <a:rPr b="0" i="0" lang="ru" sz="1400" u="sng" cap="none" strike="noStrike">
                <a:solidFill>
                  <a:srgbClr val="123194"/>
                </a:solidFill>
                <a:latin typeface="Montserrat"/>
                <a:ea typeface="Montserrat"/>
                <a:cs typeface="Montserrat"/>
                <a:sym typeface="Montserrat"/>
                <a:hlinkClick r:id="rId3">
                  <a:extLst>
                    <a:ext uri="{A12FA001-AC4F-418D-AE19-62706E023703}">
                      <ahyp:hlinkClr val="tx"/>
                    </a:ext>
                  </a:extLst>
                </a:hlinkClick>
              </a:rPr>
              <a:t>ya.ru</a:t>
            </a:r>
            <a:endParaRPr b="0" i="0" sz="1400" u="none" cap="none" strike="noStrike">
              <a:solidFill>
                <a:srgbClr val="123194"/>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3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4"/>
          <p:cNvSpPr/>
          <p:nvPr/>
        </p:nvSpPr>
        <p:spPr>
          <a:xfrm>
            <a:off x="459858"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4"/>
          <p:cNvSpPr txBox="1"/>
          <p:nvPr/>
        </p:nvSpPr>
        <p:spPr>
          <a:xfrm>
            <a:off x="849858"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88" name="Google Shape;288;p24"/>
          <p:cNvSpPr txBox="1"/>
          <p:nvPr/>
        </p:nvSpPr>
        <p:spPr>
          <a:xfrm>
            <a:off x="351300" y="4191975"/>
            <a:ext cx="38913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89" name="Google Shape;289;p24"/>
          <p:cNvSpPr/>
          <p:nvPr/>
        </p:nvSpPr>
        <p:spPr>
          <a:xfrm>
            <a:off x="4754310" y="1152351"/>
            <a:ext cx="3782700" cy="30606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4"/>
          <p:cNvSpPr txBox="1"/>
          <p:nvPr/>
        </p:nvSpPr>
        <p:spPr>
          <a:xfrm>
            <a:off x="5144310" y="232016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291" name="Google Shape;291;p24"/>
          <p:cNvSpPr txBox="1"/>
          <p:nvPr/>
        </p:nvSpPr>
        <p:spPr>
          <a:xfrm>
            <a:off x="4659772" y="4191975"/>
            <a:ext cx="4009500" cy="3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292" name="Google Shape;292;p24"/>
          <p:cNvSpPr txBox="1"/>
          <p:nvPr/>
        </p:nvSpPr>
        <p:spPr>
          <a:xfrm>
            <a:off x="368558" y="284682"/>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nvSpPr>
        <p:spPr>
          <a:xfrm>
            <a:off x="368558" y="284065"/>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298" name="Google Shape;298;p25"/>
          <p:cNvSpPr/>
          <p:nvPr/>
        </p:nvSpPr>
        <p:spPr>
          <a:xfrm>
            <a:off x="459858" y="2563223"/>
            <a:ext cx="8080500" cy="1876800"/>
          </a:xfrm>
          <a:prstGeom prst="rect">
            <a:avLst/>
          </a:prstGeom>
          <a:solidFill>
            <a:schemeClr val="lt2"/>
          </a:solidFill>
          <a:ln cap="flat" cmpd="sng" w="9525">
            <a:solidFill>
              <a:srgbClr val="1231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5"/>
          <p:cNvSpPr txBox="1"/>
          <p:nvPr/>
        </p:nvSpPr>
        <p:spPr>
          <a:xfrm>
            <a:off x="2914972" y="2927806"/>
            <a:ext cx="3002700" cy="3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ru" sz="2500" u="none" cap="none" strike="noStrike">
                <a:solidFill>
                  <a:schemeClr val="dk1"/>
                </a:solidFill>
                <a:latin typeface="Montserrat"/>
                <a:ea typeface="Montserrat"/>
                <a:cs typeface="Montserrat"/>
                <a:sym typeface="Montserrat"/>
              </a:rPr>
              <a:t>Изображение</a:t>
            </a:r>
            <a:endParaRPr b="0" i="0" sz="2500" u="none" cap="none" strike="noStrike">
              <a:solidFill>
                <a:schemeClr val="dk1"/>
              </a:solidFill>
              <a:latin typeface="Montserrat"/>
              <a:ea typeface="Montserrat"/>
              <a:cs typeface="Montserrat"/>
              <a:sym typeface="Montserrat"/>
            </a:endParaRPr>
          </a:p>
        </p:txBody>
      </p:sp>
      <p:sp>
        <p:nvSpPr>
          <p:cNvPr id="300" name="Google Shape;300;p25"/>
          <p:cNvSpPr txBox="1"/>
          <p:nvPr/>
        </p:nvSpPr>
        <p:spPr>
          <a:xfrm>
            <a:off x="354822" y="4403884"/>
            <a:ext cx="8080500" cy="38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ru" sz="1400" u="none" cap="none" strike="noStrike">
                <a:solidFill>
                  <a:schemeClr val="dk1"/>
                </a:solidFill>
                <a:latin typeface="Montserrat"/>
                <a:ea typeface="Montserrat"/>
                <a:cs typeface="Montserrat"/>
                <a:sym typeface="Montserrat"/>
              </a:rPr>
              <a:t>Подпись к изображению</a:t>
            </a:r>
            <a:endParaRPr b="0" i="0" sz="1400" u="none" cap="none" strike="noStrike">
              <a:solidFill>
                <a:schemeClr val="dk1"/>
              </a:solidFill>
              <a:latin typeface="Montserrat"/>
              <a:ea typeface="Montserrat"/>
              <a:cs typeface="Montserrat"/>
              <a:sym typeface="Montserrat"/>
            </a:endParaRPr>
          </a:p>
        </p:txBody>
      </p:sp>
      <p:sp>
        <p:nvSpPr>
          <p:cNvPr id="301" name="Google Shape;301;p25"/>
          <p:cNvSpPr txBox="1"/>
          <p:nvPr/>
        </p:nvSpPr>
        <p:spPr>
          <a:xfrm>
            <a:off x="372350" y="1024947"/>
            <a:ext cx="8167800" cy="16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ru" sz="1800" u="none" cap="none" strike="noStrike">
                <a:solidFill>
                  <a:srgbClr val="000000"/>
                </a:solidFill>
                <a:latin typeface="Montserrat"/>
                <a:ea typeface="Montserrat"/>
                <a:cs typeface="Montserrat"/>
                <a:sym typeface="Montserrat"/>
              </a:rPr>
              <a:t>Текст </a:t>
            </a:r>
            <a:r>
              <a:rPr b="0" i="0" lang="ru" sz="1800" u="none" cap="none" strike="noStrike">
                <a:solidFill>
                  <a:schemeClr val="dk1"/>
                </a:solidFill>
                <a:latin typeface="Montserrat"/>
                <a:ea typeface="Montserrat"/>
                <a:cs typeface="Montserrat"/>
                <a:sym typeface="Montserrat"/>
              </a:rPr>
              <a:t>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 Текст</a:t>
            </a:r>
            <a:r>
              <a:rPr b="0" i="0" lang="ru" sz="2000" u="none" cap="none" strike="noStrike">
                <a:solidFill>
                  <a:schemeClr val="dk1"/>
                </a:solidFill>
                <a:latin typeface="Montserrat"/>
                <a:ea typeface="Montserrat"/>
                <a:cs typeface="Montserrat"/>
                <a:sym typeface="Montserrat"/>
              </a:rPr>
              <a:t> </a:t>
            </a:r>
            <a:endParaRPr b="0" i="0" sz="20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26"/>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307" name="Google Shape;307;p26"/>
          <p:cNvSpPr txBox="1"/>
          <p:nvPr/>
        </p:nvSpPr>
        <p:spPr>
          <a:xfrm>
            <a:off x="368558" y="282004"/>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308" name="Google Shape;308;p26"/>
          <p:cNvSpPr txBox="1"/>
          <p:nvPr/>
        </p:nvSpPr>
        <p:spPr>
          <a:xfrm>
            <a:off x="279593"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Montserrat"/>
              <a:buChar char="●"/>
            </a:pPr>
            <a:r>
              <a:rPr b="0" i="0" lang="ru" sz="1800" u="none" cap="none" strike="noStrike">
                <a:solidFill>
                  <a:srgbClr val="000000"/>
                </a:solidFill>
                <a:latin typeface="Montserrat"/>
                <a:ea typeface="Montserrat"/>
                <a:cs typeface="Montserrat"/>
                <a:sym typeface="Montserrat"/>
              </a:rPr>
              <a:t>Список маркированный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Char char="●"/>
            </a:pPr>
            <a:r>
              <a:rPr b="0" i="0" lang="ru" sz="1800" u="none" cap="none" strike="noStrike">
                <a:solidFill>
                  <a:schemeClr val="dk1"/>
                </a:solidFill>
                <a:latin typeface="Montserrat"/>
                <a:ea typeface="Montserrat"/>
                <a:cs typeface="Montserrat"/>
                <a:sym typeface="Montserrat"/>
              </a:rPr>
              <a:t>Список маркированный</a:t>
            </a:r>
            <a:endParaRPr b="0" i="0" sz="18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a:p>
            <a:pPr indent="0" lvl="0" marL="457200" marR="0" rtl="0" algn="l">
              <a:lnSpc>
                <a:spcPct val="115000"/>
              </a:lnSpc>
              <a:spcBef>
                <a:spcPts val="1800"/>
              </a:spcBef>
              <a:spcAft>
                <a:spcPts val="1800"/>
              </a:spcAft>
              <a:buClr>
                <a:srgbClr val="000000"/>
              </a:buClr>
              <a:buSzPts val="2000"/>
              <a:buFont typeface="Arial"/>
              <a:buNone/>
            </a:pPr>
            <a:r>
              <a:t/>
            </a:r>
            <a:endParaRPr b="0" i="0" sz="20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27"/>
          <p:cNvPicPr preferRelativeResize="0"/>
          <p:nvPr/>
        </p:nvPicPr>
        <p:blipFill rotWithShape="1">
          <a:blip r:embed="rId3">
            <a:alphaModFix/>
          </a:blip>
          <a:srcRect b="0" l="0" r="0" t="0"/>
          <a:stretch/>
        </p:blipFill>
        <p:spPr>
          <a:xfrm>
            <a:off x="388628" y="4493079"/>
            <a:ext cx="847909" cy="415398"/>
          </a:xfrm>
          <a:prstGeom prst="rect">
            <a:avLst/>
          </a:prstGeom>
          <a:noFill/>
          <a:ln>
            <a:noFill/>
          </a:ln>
        </p:spPr>
      </p:pic>
      <p:sp>
        <p:nvSpPr>
          <p:cNvPr id="314" name="Google Shape;314;p27"/>
          <p:cNvSpPr txBox="1"/>
          <p:nvPr/>
        </p:nvSpPr>
        <p:spPr>
          <a:xfrm>
            <a:off x="368558" y="284976"/>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Заголовок слайда</a:t>
            </a:r>
            <a:endParaRPr b="1" i="0" sz="2800" u="none" cap="none" strike="noStrike">
              <a:solidFill>
                <a:srgbClr val="123194"/>
              </a:solidFill>
              <a:latin typeface="Montserrat"/>
              <a:ea typeface="Montserrat"/>
              <a:cs typeface="Montserrat"/>
              <a:sym typeface="Montserrat"/>
            </a:endParaRPr>
          </a:p>
        </p:txBody>
      </p:sp>
      <p:sp>
        <p:nvSpPr>
          <p:cNvPr id="315" name="Google Shape;315;p27"/>
          <p:cNvSpPr txBox="1"/>
          <p:nvPr/>
        </p:nvSpPr>
        <p:spPr>
          <a:xfrm>
            <a:off x="365196" y="948744"/>
            <a:ext cx="8167800" cy="350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rgbClr val="000000"/>
                </a:solidFill>
                <a:latin typeface="Montserrat"/>
                <a:ea typeface="Montserrat"/>
                <a:cs typeface="Montserrat"/>
                <a:sym typeface="Montserrat"/>
              </a:rPr>
              <a:t>Список нумерованный</a:t>
            </a:r>
            <a:endParaRPr b="0" i="0" sz="1800" u="none" cap="none" strike="noStrike">
              <a:solidFill>
                <a:srgbClr val="000000"/>
              </a:solidFill>
              <a:latin typeface="Montserrat"/>
              <a:ea typeface="Montserrat"/>
              <a:cs typeface="Montserrat"/>
              <a:sym typeface="Montserrat"/>
            </a:endParaRPr>
          </a:p>
          <a:p>
            <a:pPr indent="-342900" lvl="0" marL="457200" marR="0" rtl="0" algn="l">
              <a:lnSpc>
                <a:spcPct val="115000"/>
              </a:lnSpc>
              <a:spcBef>
                <a:spcPts val="1800"/>
              </a:spcBef>
              <a:spcAft>
                <a:spcPts val="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115000"/>
              </a:lnSpc>
              <a:spcBef>
                <a:spcPts val="1800"/>
              </a:spcBef>
              <a:spcAft>
                <a:spcPts val="1000"/>
              </a:spcAft>
              <a:buClr>
                <a:schemeClr val="dk1"/>
              </a:buClr>
              <a:buSzPts val="1800"/>
              <a:buFont typeface="Montserrat"/>
              <a:buAutoNum type="arabicPeriod"/>
            </a:pPr>
            <a:r>
              <a:rPr b="0" i="0" lang="ru" sz="1800" u="none" cap="none" strike="noStrike">
                <a:solidFill>
                  <a:schemeClr val="dk1"/>
                </a:solidFill>
                <a:latin typeface="Montserrat"/>
                <a:ea typeface="Montserrat"/>
                <a:cs typeface="Montserrat"/>
                <a:sym typeface="Montserrat"/>
              </a:rPr>
              <a:t>Список нумерованный</a:t>
            </a:r>
            <a:endParaRPr b="0" i="0" sz="18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8"/>
          <p:cNvSpPr txBox="1"/>
          <p:nvPr/>
        </p:nvSpPr>
        <p:spPr>
          <a:xfrm>
            <a:off x="368558" y="2159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pic>
        <p:nvPicPr>
          <p:cNvPr id="321" name="Google Shape;321;p28" title="Points scored"/>
          <p:cNvPicPr preferRelativeResize="0"/>
          <p:nvPr/>
        </p:nvPicPr>
        <p:blipFill rotWithShape="1">
          <a:blip r:embed="rId3">
            <a:alphaModFix/>
          </a:blip>
          <a:srcRect b="0" l="0" r="0" t="0"/>
          <a:stretch/>
        </p:blipFill>
        <p:spPr>
          <a:xfrm>
            <a:off x="325575" y="1215225"/>
            <a:ext cx="5385474" cy="33300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29" title="Points scored"/>
          <p:cNvPicPr preferRelativeResize="0"/>
          <p:nvPr/>
        </p:nvPicPr>
        <p:blipFill rotWithShape="1">
          <a:blip r:embed="rId3">
            <a:alphaModFix/>
          </a:blip>
          <a:srcRect b="0" l="0" r="0" t="0"/>
          <a:stretch/>
        </p:blipFill>
        <p:spPr>
          <a:xfrm>
            <a:off x="327052" y="1011501"/>
            <a:ext cx="5351550" cy="3308999"/>
          </a:xfrm>
          <a:prstGeom prst="rect">
            <a:avLst/>
          </a:prstGeom>
          <a:noFill/>
          <a:ln>
            <a:noFill/>
          </a:ln>
        </p:spPr>
      </p:pic>
      <p:sp>
        <p:nvSpPr>
          <p:cNvPr id="327" name="Google Shape;327;p29"/>
          <p:cNvSpPr txBox="1"/>
          <p:nvPr/>
        </p:nvSpPr>
        <p:spPr>
          <a:xfrm>
            <a:off x="368558" y="2159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0" title="Points scored"/>
          <p:cNvPicPr preferRelativeResize="0"/>
          <p:nvPr/>
        </p:nvPicPr>
        <p:blipFill rotWithShape="1">
          <a:blip r:embed="rId3">
            <a:alphaModFix/>
          </a:blip>
          <a:srcRect b="0" l="0" r="0" t="0"/>
          <a:stretch/>
        </p:blipFill>
        <p:spPr>
          <a:xfrm>
            <a:off x="325575" y="989477"/>
            <a:ext cx="5342226" cy="3303250"/>
          </a:xfrm>
          <a:prstGeom prst="rect">
            <a:avLst/>
          </a:prstGeom>
          <a:noFill/>
          <a:ln>
            <a:noFill/>
          </a:ln>
        </p:spPr>
      </p:pic>
      <p:sp>
        <p:nvSpPr>
          <p:cNvPr id="333" name="Google Shape;333;p30"/>
          <p:cNvSpPr txBox="1"/>
          <p:nvPr/>
        </p:nvSpPr>
        <p:spPr>
          <a:xfrm>
            <a:off x="368558" y="2159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Диаграмма</a:t>
            </a:r>
            <a:endParaRPr b="1" i="0" sz="2800" u="none" cap="none" strike="noStrike">
              <a:solidFill>
                <a:srgbClr val="123194"/>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nvSpPr>
        <p:spPr>
          <a:xfrm>
            <a:off x="343325" y="736600"/>
            <a:ext cx="7368600" cy="11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000"/>
              <a:buFont typeface="Arial"/>
              <a:buNone/>
            </a:pPr>
            <a:r>
              <a:rPr b="0" i="0" lang="ru" sz="3000" u="none" cap="none" strike="noStrike">
                <a:solidFill>
                  <a:srgbClr val="123194"/>
                </a:solidFill>
                <a:latin typeface="Montserrat"/>
                <a:ea typeface="Montserrat"/>
                <a:cs typeface="Montserrat"/>
                <a:sym typeface="Montserrat"/>
              </a:rPr>
              <a:t>Важная ключевая мысль</a:t>
            </a:r>
            <a:endParaRPr b="0" i="0" sz="3000" u="none" cap="none" strike="noStrike">
              <a:solidFill>
                <a:srgbClr val="123194"/>
              </a:solidFill>
              <a:latin typeface="Montserrat"/>
              <a:ea typeface="Montserrat"/>
              <a:cs typeface="Montserrat"/>
              <a:sym typeface="Montserrat"/>
            </a:endParaRPr>
          </a:p>
        </p:txBody>
      </p:sp>
      <p:pic>
        <p:nvPicPr>
          <p:cNvPr id="339" name="Google Shape;339;p31"/>
          <p:cNvPicPr preferRelativeResize="0"/>
          <p:nvPr/>
        </p:nvPicPr>
        <p:blipFill rotWithShape="1">
          <a:blip r:embed="rId3">
            <a:alphaModFix/>
          </a:blip>
          <a:srcRect b="0" l="0" r="0" t="0"/>
          <a:stretch/>
        </p:blipFill>
        <p:spPr>
          <a:xfrm>
            <a:off x="388628" y="156412"/>
            <a:ext cx="847909" cy="415398"/>
          </a:xfrm>
          <a:prstGeom prst="rect">
            <a:avLst/>
          </a:prstGeom>
          <a:noFill/>
          <a:ln>
            <a:noFill/>
          </a:ln>
        </p:spPr>
      </p:pic>
      <p:pic>
        <p:nvPicPr>
          <p:cNvPr id="340" name="Google Shape;340;p31"/>
          <p:cNvPicPr preferRelativeResize="0"/>
          <p:nvPr/>
        </p:nvPicPr>
        <p:blipFill rotWithShape="1">
          <a:blip r:embed="rId4">
            <a:alphaModFix/>
          </a:blip>
          <a:srcRect b="0" l="0" r="0" t="0"/>
          <a:stretch/>
        </p:blipFill>
        <p:spPr>
          <a:xfrm>
            <a:off x="7517125" y="2220590"/>
            <a:ext cx="1019175" cy="2667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46" name="Google Shape;346;p32"/>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347" name="Google Shape;347;p32"/>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348" name="Google Shape;348;p32"/>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349" name="Google Shape;349;p32"/>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350" name="Google Shape;350;p32"/>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351" name="Google Shape;351;p32"/>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352" name="Google Shape;352;p32"/>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353" name="Google Shape;353;p32"/>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354" name="Google Shape;354;p32"/>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60" name="Google Shape;360;p33"/>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rgbClr val="123194"/>
                </a:solidFill>
                <a:latin typeface="Montserrat"/>
                <a:ea typeface="Montserrat"/>
                <a:cs typeface="Montserrat"/>
                <a:sym typeface="Montserrat"/>
              </a:rPr>
              <a:t>Иконки</a:t>
            </a:r>
            <a:endParaRPr b="1" i="0" sz="2800" u="none" cap="none" strike="noStrike">
              <a:solidFill>
                <a:srgbClr val="123194"/>
              </a:solidFill>
              <a:latin typeface="Montserrat"/>
              <a:ea typeface="Montserrat"/>
              <a:cs typeface="Montserrat"/>
              <a:sym typeface="Montserrat"/>
            </a:endParaRPr>
          </a:p>
        </p:txBody>
      </p:sp>
      <p:pic>
        <p:nvPicPr>
          <p:cNvPr id="361" name="Google Shape;361;p33"/>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62" name="Google Shape;362;p33"/>
          <p:cNvPicPr preferRelativeResize="0"/>
          <p:nvPr/>
        </p:nvPicPr>
        <p:blipFill rotWithShape="1">
          <a:blip r:embed="rId4">
            <a:alphaModFix/>
          </a:blip>
          <a:srcRect b="0" l="1162" r="1161" t="0"/>
          <a:stretch/>
        </p:blipFill>
        <p:spPr>
          <a:xfrm>
            <a:off x="6028626" y="1997451"/>
            <a:ext cx="2428875" cy="2387574"/>
          </a:xfrm>
          <a:prstGeom prst="rect">
            <a:avLst/>
          </a:prstGeom>
          <a:noFill/>
          <a:ln>
            <a:noFill/>
          </a:ln>
        </p:spPr>
      </p:pic>
      <p:pic>
        <p:nvPicPr>
          <p:cNvPr id="363" name="Google Shape;363;p33"/>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64" name="Google Shape;364;p33"/>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70" name="Google Shape;370;p34"/>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4"/>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72" name="Google Shape;372;p34"/>
          <p:cNvPicPr preferRelativeResize="0"/>
          <p:nvPr/>
        </p:nvPicPr>
        <p:blipFill rotWithShape="1">
          <a:blip r:embed="rId3">
            <a:alphaModFix/>
          </a:blip>
          <a:srcRect b="0" l="0" r="0" t="0"/>
          <a:stretch/>
        </p:blipFill>
        <p:spPr>
          <a:xfrm>
            <a:off x="348539" y="559562"/>
            <a:ext cx="1685925" cy="2924175"/>
          </a:xfrm>
          <a:prstGeom prst="rect">
            <a:avLst/>
          </a:prstGeom>
          <a:noFill/>
          <a:ln>
            <a:noFill/>
          </a:ln>
        </p:spPr>
      </p:pic>
      <p:pic>
        <p:nvPicPr>
          <p:cNvPr id="373" name="Google Shape;373;p34"/>
          <p:cNvPicPr preferRelativeResize="0"/>
          <p:nvPr/>
        </p:nvPicPr>
        <p:blipFill rotWithShape="1">
          <a:blip r:embed="rId4">
            <a:alphaModFix/>
          </a:blip>
          <a:srcRect b="0" l="0" r="0" t="0"/>
          <a:stretch/>
        </p:blipFill>
        <p:spPr>
          <a:xfrm>
            <a:off x="1979281" y="638012"/>
            <a:ext cx="1752600" cy="2009775"/>
          </a:xfrm>
          <a:prstGeom prst="rect">
            <a:avLst/>
          </a:prstGeom>
          <a:noFill/>
          <a:ln>
            <a:noFill/>
          </a:ln>
        </p:spPr>
      </p:pic>
      <p:pic>
        <p:nvPicPr>
          <p:cNvPr id="374" name="Google Shape;374;p34"/>
          <p:cNvPicPr preferRelativeResize="0"/>
          <p:nvPr/>
        </p:nvPicPr>
        <p:blipFill rotWithShape="1">
          <a:blip r:embed="rId5">
            <a:alphaModFix/>
          </a:blip>
          <a:srcRect b="0" l="0" r="0" t="0"/>
          <a:stretch/>
        </p:blipFill>
        <p:spPr>
          <a:xfrm>
            <a:off x="2312069" y="2408849"/>
            <a:ext cx="1619250" cy="1971675"/>
          </a:xfrm>
          <a:prstGeom prst="rect">
            <a:avLst/>
          </a:prstGeom>
          <a:noFill/>
          <a:ln>
            <a:noFill/>
          </a:ln>
        </p:spPr>
      </p:pic>
      <p:pic>
        <p:nvPicPr>
          <p:cNvPr id="375" name="Google Shape;375;p34"/>
          <p:cNvPicPr preferRelativeResize="0"/>
          <p:nvPr/>
        </p:nvPicPr>
        <p:blipFill rotWithShape="1">
          <a:blip r:embed="rId6">
            <a:alphaModFix/>
          </a:blip>
          <a:srcRect b="0" l="0" r="0" t="0"/>
          <a:stretch/>
        </p:blipFill>
        <p:spPr>
          <a:xfrm>
            <a:off x="3829081" y="696899"/>
            <a:ext cx="1838325" cy="1381125"/>
          </a:xfrm>
          <a:prstGeom prst="rect">
            <a:avLst/>
          </a:prstGeom>
          <a:noFill/>
          <a:ln>
            <a:noFill/>
          </a:ln>
        </p:spPr>
      </p:pic>
      <p:pic>
        <p:nvPicPr>
          <p:cNvPr id="376" name="Google Shape;376;p34"/>
          <p:cNvPicPr preferRelativeResize="0"/>
          <p:nvPr/>
        </p:nvPicPr>
        <p:blipFill rotWithShape="1">
          <a:blip r:embed="rId7">
            <a:alphaModFix/>
          </a:blip>
          <a:srcRect b="0" l="0" r="0" t="0"/>
          <a:stretch/>
        </p:blipFill>
        <p:spPr>
          <a:xfrm>
            <a:off x="6863756" y="635762"/>
            <a:ext cx="1828800" cy="4152900"/>
          </a:xfrm>
          <a:prstGeom prst="rect">
            <a:avLst/>
          </a:prstGeom>
          <a:noFill/>
          <a:ln>
            <a:noFill/>
          </a:ln>
        </p:spPr>
      </p:pic>
      <p:pic>
        <p:nvPicPr>
          <p:cNvPr id="377" name="Google Shape;377;p34"/>
          <p:cNvPicPr preferRelativeResize="0"/>
          <p:nvPr/>
        </p:nvPicPr>
        <p:blipFill rotWithShape="1">
          <a:blip r:embed="rId8">
            <a:alphaModFix/>
          </a:blip>
          <a:srcRect b="0" l="0" r="0" t="0"/>
          <a:stretch/>
        </p:blipFill>
        <p:spPr>
          <a:xfrm>
            <a:off x="459856" y="3220363"/>
            <a:ext cx="2038350" cy="1628775"/>
          </a:xfrm>
          <a:prstGeom prst="rect">
            <a:avLst/>
          </a:prstGeom>
          <a:noFill/>
          <a:ln>
            <a:noFill/>
          </a:ln>
        </p:spPr>
      </p:pic>
      <p:pic>
        <p:nvPicPr>
          <p:cNvPr id="378" name="Google Shape;378;p34"/>
          <p:cNvPicPr preferRelativeResize="0"/>
          <p:nvPr/>
        </p:nvPicPr>
        <p:blipFill rotWithShape="1">
          <a:blip r:embed="rId9">
            <a:alphaModFix/>
          </a:blip>
          <a:srcRect b="0" l="0" r="0" t="0"/>
          <a:stretch/>
        </p:blipFill>
        <p:spPr>
          <a:xfrm>
            <a:off x="3897381" y="2664587"/>
            <a:ext cx="1876425" cy="2124075"/>
          </a:xfrm>
          <a:prstGeom prst="rect">
            <a:avLst/>
          </a:prstGeom>
          <a:noFill/>
          <a:ln>
            <a:noFill/>
          </a:ln>
        </p:spPr>
      </p:pic>
      <p:pic>
        <p:nvPicPr>
          <p:cNvPr id="379" name="Google Shape;379;p34"/>
          <p:cNvPicPr preferRelativeResize="0"/>
          <p:nvPr/>
        </p:nvPicPr>
        <p:blipFill rotWithShape="1">
          <a:blip r:embed="rId10">
            <a:alphaModFix/>
          </a:blip>
          <a:srcRect b="0" l="0" r="0" t="0"/>
          <a:stretch/>
        </p:blipFill>
        <p:spPr>
          <a:xfrm>
            <a:off x="5892251" y="847550"/>
            <a:ext cx="1019175" cy="2667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5"/>
          <p:cNvSpPr txBox="1"/>
          <p:nvPr/>
        </p:nvSpPr>
        <p:spPr>
          <a:xfrm>
            <a:off x="292358" y="63537"/>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123194"/>
              </a:solidFill>
              <a:latin typeface="Montserrat"/>
              <a:ea typeface="Montserrat"/>
              <a:cs typeface="Montserrat"/>
              <a:sym typeface="Montserrat"/>
            </a:endParaRPr>
          </a:p>
        </p:txBody>
      </p:sp>
      <p:sp>
        <p:nvSpPr>
          <p:cNvPr id="385" name="Google Shape;385;p35"/>
          <p:cNvSpPr/>
          <p:nvPr/>
        </p:nvSpPr>
        <p:spPr>
          <a:xfrm>
            <a:off x="13125" y="-9549"/>
            <a:ext cx="9000000" cy="5040000"/>
          </a:xfrm>
          <a:prstGeom prst="rect">
            <a:avLst/>
          </a:prstGeom>
          <a:solidFill>
            <a:srgbClr val="1231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5"/>
          <p:cNvSpPr txBox="1"/>
          <p:nvPr/>
        </p:nvSpPr>
        <p:spPr>
          <a:xfrm>
            <a:off x="368558" y="-12663"/>
            <a:ext cx="8247900" cy="77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ru" sz="2800" u="none" cap="none" strike="noStrike">
                <a:solidFill>
                  <a:schemeClr val="lt1"/>
                </a:solidFill>
                <a:latin typeface="Montserrat"/>
                <a:ea typeface="Montserrat"/>
                <a:cs typeface="Montserrat"/>
                <a:sym typeface="Montserrat"/>
              </a:rPr>
              <a:t>Иконки</a:t>
            </a:r>
            <a:endParaRPr b="1" i="0" sz="2800" u="none" cap="none" strike="noStrike">
              <a:solidFill>
                <a:schemeClr val="lt1"/>
              </a:solidFill>
              <a:latin typeface="Montserrat"/>
              <a:ea typeface="Montserrat"/>
              <a:cs typeface="Montserrat"/>
              <a:sym typeface="Montserrat"/>
            </a:endParaRPr>
          </a:p>
        </p:txBody>
      </p:sp>
      <p:pic>
        <p:nvPicPr>
          <p:cNvPr id="387" name="Google Shape;387;p35"/>
          <p:cNvPicPr preferRelativeResize="0"/>
          <p:nvPr/>
        </p:nvPicPr>
        <p:blipFill rotWithShape="1">
          <a:blip r:embed="rId3">
            <a:alphaModFix/>
          </a:blip>
          <a:srcRect b="0" l="0" r="0" t="0"/>
          <a:stretch/>
        </p:blipFill>
        <p:spPr>
          <a:xfrm>
            <a:off x="405338" y="685434"/>
            <a:ext cx="1790700" cy="2190750"/>
          </a:xfrm>
          <a:prstGeom prst="rect">
            <a:avLst/>
          </a:prstGeom>
          <a:noFill/>
          <a:ln>
            <a:noFill/>
          </a:ln>
        </p:spPr>
      </p:pic>
      <p:pic>
        <p:nvPicPr>
          <p:cNvPr id="388" name="Google Shape;388;p35"/>
          <p:cNvPicPr preferRelativeResize="0"/>
          <p:nvPr/>
        </p:nvPicPr>
        <p:blipFill rotWithShape="1">
          <a:blip r:embed="rId4">
            <a:alphaModFix/>
          </a:blip>
          <a:srcRect b="0" l="1960" r="1959" t="0"/>
          <a:stretch/>
        </p:blipFill>
        <p:spPr>
          <a:xfrm>
            <a:off x="6028626" y="1997451"/>
            <a:ext cx="2428875" cy="2387574"/>
          </a:xfrm>
          <a:prstGeom prst="rect">
            <a:avLst/>
          </a:prstGeom>
          <a:noFill/>
          <a:ln>
            <a:noFill/>
          </a:ln>
        </p:spPr>
      </p:pic>
      <p:pic>
        <p:nvPicPr>
          <p:cNvPr id="389" name="Google Shape;389;p35"/>
          <p:cNvPicPr preferRelativeResize="0"/>
          <p:nvPr/>
        </p:nvPicPr>
        <p:blipFill rotWithShape="1">
          <a:blip r:embed="rId5">
            <a:alphaModFix/>
          </a:blip>
          <a:srcRect b="0" l="0" r="0" t="0"/>
          <a:stretch/>
        </p:blipFill>
        <p:spPr>
          <a:xfrm>
            <a:off x="1851089" y="1828600"/>
            <a:ext cx="2352675" cy="2495550"/>
          </a:xfrm>
          <a:prstGeom prst="rect">
            <a:avLst/>
          </a:prstGeom>
          <a:noFill/>
          <a:ln>
            <a:noFill/>
          </a:ln>
        </p:spPr>
      </p:pic>
      <p:pic>
        <p:nvPicPr>
          <p:cNvPr id="390" name="Google Shape;390;p35"/>
          <p:cNvPicPr preferRelativeResize="0"/>
          <p:nvPr/>
        </p:nvPicPr>
        <p:blipFill rotWithShape="1">
          <a:blip r:embed="rId6">
            <a:alphaModFix/>
          </a:blip>
          <a:srcRect b="0" l="0" r="0" t="0"/>
          <a:stretch/>
        </p:blipFill>
        <p:spPr>
          <a:xfrm>
            <a:off x="4024989" y="685413"/>
            <a:ext cx="2428875" cy="2486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